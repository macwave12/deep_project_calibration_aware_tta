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551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morning. Our project asks a narrow question about test-time adaptation.</a:t>
            </a:r>
          </a:p>
          <a:p>
            <a:endParaRPr/>
          </a:p>
          <a:p>
            <a:r>
              <a:t>TTA methods make CLIP more accurate on new domains without any training or</a:t>
            </a:r>
          </a:p>
          <a:p>
            <a:r>
              <a:t>labels. We asked whether they also make it more trustworthy - whether the</a:t>
            </a:r>
          </a:p>
          <a:p>
            <a:r>
              <a:t>confidence it reports can still be believed - and whether we could fix that</a:t>
            </a:r>
          </a:p>
          <a:p>
            <a:r>
              <a:t>with three training-free changes.</a:t>
            </a:r>
          </a:p>
          <a:p>
            <a:endParaRPr/>
          </a:p>
          <a:p>
            <a:r>
              <a:t>The short answer, which I will not hide until the end: two of our three ideas</a:t>
            </a:r>
          </a:p>
          <a:p>
            <a:r>
              <a:t>failed, one worked, and the interesting part of this talk is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parts. I will spend the first third on background, because the result</a:t>
            </a:r>
          </a:p>
          <a:p>
            <a:r>
              <a:t>only means something once you know what TDA does and what calibration is.</a:t>
            </a:r>
          </a:p>
          <a:p>
            <a:endParaRPr/>
          </a:p>
          <a:p>
            <a:r>
              <a:t>Sections three and four - our method and our results - are the project</a:t>
            </a:r>
          </a:p>
          <a:p>
            <a:r>
              <a:t>itself, and that is where most of the time goes.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First, what CLIP actually is. It is a vision-language model from OpenAI: two</a:t>
            </a:r>
          </a:p>
          <a:p>
            <a:r>
              <a:t>encoders, one for images and one for text, trained so that a picture and a</a:t>
            </a:r>
          </a:p>
          <a:p>
            <a:r>
              <a:t>sentence describing it land close together in one shared embedding space.</a:t>
            </a:r>
          </a:p>
          <a:p>
            <a:r>
              <a:t>The point of training it that way is generality - instead of learning one</a:t>
            </a:r>
          </a:p>
          <a:p>
            <a:r>
              <a:t>fixed set of classes, it learns visual concepts from language, so one frozen</a:t>
            </a:r>
          </a:p>
          <a:p>
            <a:r>
              <a:t>model can recognise anything you can describe in words.</a:t>
            </a:r>
          </a:p>
          <a:p>
            <a:endParaRPr/>
          </a:p>
          <a:p>
            <a:r>
              <a:t>That is what makes zero-shot classification possible. Zero-shot means</a:t>
            </a:r>
          </a:p>
          <a:p>
            <a:r>
              <a:t>classifying into categories the model was never explicitly trained on, with</a:t>
            </a:r>
          </a:p>
          <a:p>
            <a:r>
              <a:t>zero labelled examples. And the reason it is used is economic: a new task</a:t>
            </a:r>
          </a:p>
          <a:p>
            <a:r>
              <a:t>costs nothing. No training data, no classifier head, no fine-tuning - you</a:t>
            </a:r>
          </a:p>
          <a:p>
            <a:r>
              <a:t>write the class names, and the names themselves are the classifier.</a:t>
            </a:r>
          </a:p>
          <a:p>
            <a:endParaRPr/>
          </a:p>
          <a:p>
            <a:r>
              <a:t>Mechanically, each class name is wrapped in a prompt like "a photo of a</a:t>
            </a:r>
          </a:p>
          <a:p>
            <a:r>
              <a:t>Boeing 737", all the prompts are encoded, and an image is assigned to</a:t>
            </a:r>
          </a:p>
          <a:p>
            <a:r>
              <a:t>whichever prompt it sits closest to - the formula on the right. Everything</a:t>
            </a:r>
          </a:p>
          <a:p>
            <a:r>
              <a:t>later in this talk either adds a term to those logits or rescales them; the</a:t>
            </a:r>
          </a:p>
          <a:p>
            <a:r>
              <a:t>encoders stay frozen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why is CLIP not simply the end of the story? Because its generality comes</a:t>
            </a:r>
          </a:p>
          <a:p>
            <a:r>
              <a:t>from its training data, and that data is web imagery. A domain that looks</a:t>
            </a:r>
          </a:p>
          <a:p>
            <a:r>
              <a:t>nothing like the web - a satellite view, a close-up of an aircraft variant -</a:t>
            </a:r>
          </a:p>
          <a:p>
            <a:r>
              <a:t>is out of distribution for it.</a:t>
            </a:r>
          </a:p>
          <a:p>
            <a:endParaRPr/>
          </a:p>
          <a:p>
            <a:r>
              <a:t>On those domains the zero-shot accuracy collapses. The benchmark paper we</a:t>
            </a:r>
          </a:p>
          <a:p>
            <a:r>
              <a:t>build on reports CLIP at 23.7 percent on EuroSAT satellite scenes and 15.7</a:t>
            </a:r>
          </a:p>
          <a:p>
            <a:r>
              <a:t>percent on fine-grained aircraft - a model that names everyday objects</a:t>
            </a:r>
          </a:p>
          <a:p>
            <a:r>
              <a:t>effortlessly cannot tell a Boeing 737-700 from a 737-800.</a:t>
            </a:r>
          </a:p>
          <a:p>
            <a:endParaRPr/>
          </a:p>
          <a:p>
            <a:r>
              <a:t>The usual remedy would be fine-tuning on the new domain, and that is exactly</a:t>
            </a:r>
          </a:p>
          <a:p>
            <a:r>
              <a:t>what we are not allowed: the new domain has no labels, and retraining a</a:t>
            </a:r>
          </a:p>
          <a:p>
            <a:r>
              <a:t>backbone per deployment target is not realistic. That constraint - recover</a:t>
            </a:r>
          </a:p>
          <a:p>
            <a:r>
              <a:t>the lost accuracy with no labels and no training - is what test-time</a:t>
            </a:r>
          </a:p>
          <a:p>
            <a:r>
              <a:t>adaptation is for, and it is the setting of this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Test-time adaptation means adapting while you are already deployed, using</a:t>
            </a:r>
          </a:p>
          <a:p>
            <a:r>
              <a:t>nothing but the unlabelled test images as they come in. There is no label and</a:t>
            </a:r>
          </a:p>
          <a:p>
            <a:r>
              <a:t>no training run; the test stream itself is the only new information.</a:t>
            </a:r>
          </a:p>
          <a:p>
            <a:endParaRPr/>
          </a:p>
          <a:p>
            <a:r>
              <a:t>There are many TTA methods. The one we build on is TDA, which never</a:t>
            </a:r>
          </a:p>
          <a:p>
            <a:r>
              <a:t>backpropagates. Instead it keeps a small memory of past test images, and the</a:t>
            </a:r>
          </a:p>
          <a:p>
            <a:r>
              <a:t>easiest way to see what that memory does is to follow one photo through it.</a:t>
            </a:r>
          </a:p>
          <a:p>
            <a:endParaRPr/>
          </a:p>
          <a:p>
            <a:r>
              <a:t>Step one: a photo of a plane arrives. Frozen CLIP encodes it into a feature</a:t>
            </a:r>
          </a:p>
          <a:p>
            <a:r>
              <a:t>vector, which is just the point in CLIP's embedding space where this photo</a:t>
            </a:r>
          </a:p>
          <a:p>
            <a:r>
              <a:t>landed, and the usual zero-shot step predicts, say, 737-800 with high</a:t>
            </a:r>
          </a:p>
          <a:p>
            <a:r>
              <a:t>confidence.</a:t>
            </a:r>
          </a:p>
          <a:p>
            <a:endParaRPr/>
          </a:p>
          <a:p>
            <a:r>
              <a:t>Step two: TDA stores that feature in a cache, filed under the class CLIP</a:t>
            </a:r>
          </a:p>
          <a:p>
            <a:r>
              <a:t>itself just predicted. That label is a pseudo-label. Nothing checked it. If</a:t>
            </a:r>
          </a:p>
          <a:p>
            <a:r>
              <a:t>CLIP was wrong and this was really a 737-900, the feature still sits under</a:t>
            </a:r>
          </a:p>
          <a:p>
            <a:r>
              <a:t>737-800.</a:t>
            </a:r>
          </a:p>
          <a:p>
            <a:endParaRPr/>
          </a:p>
          <a:p>
            <a:r>
              <a:t>Step three: a later photo arrives. TDA computes its feature the same way and</a:t>
            </a:r>
          </a:p>
          <a:p>
            <a:r>
              <a:t>compares it to every stored feature by similarity in the embedding space.</a:t>
            </a:r>
          </a:p>
          <a:p>
            <a:r>
              <a:t>Cached photos that look like the new one get a high similarity; unrelated</a:t>
            </a:r>
          </a:p>
          <a:p>
            <a:r>
              <a:t>ones get almost none.</a:t>
            </a:r>
          </a:p>
          <a:p>
            <a:endParaRPr/>
          </a:p>
          <a:p>
            <a:r>
              <a:t>Step four: the similar cached items vote for whatever pseudo-label they were</a:t>
            </a:r>
          </a:p>
          <a:p>
            <a:r>
              <a:t>filed under. If the new photo sits close to three cached 737-800s, the</a:t>
            </a:r>
          </a:p>
          <a:p>
            <a:r>
              <a:t>737-800 logit gets a boost. Those votes are added to CLIP's own zero-shot</a:t>
            </a:r>
          </a:p>
          <a:p>
            <a:r>
              <a:t>logits, and the prediction is the argmax of the sum.</a:t>
            </a:r>
          </a:p>
          <a:p>
            <a:endParaRPr/>
          </a:p>
          <a:p>
            <a:r>
              <a:t>So the cache acts like a nearest-neighbour classifier that grows out of the</a:t>
            </a:r>
          </a:p>
          <a:p>
            <a:r>
              <a:t>test stream, labelled by CLIP's own earlier opinions. That is what makes TDA</a:t>
            </a:r>
          </a:p>
          <a:p>
            <a:r>
              <a:t>cheap and effective, and, as the next slides show, it is also exactly where</a:t>
            </a:r>
          </a:p>
          <a:p>
            <a:r>
              <a:t>its calibration problem comes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TDA, top to bottom.</a:t>
            </a:r>
          </a:p>
          <a:p>
            <a:endParaRPr/>
          </a:p>
          <a:p>
            <a:r>
              <a:t>An image arrives. Frozen CLIP encodes it and produces zero-shot logits -</a:t>
            </a:r>
          </a:p>
          <a:p>
            <a:r>
              <a:t>exactly the formula from the CLIP slide, unchanged.</a:t>
            </a:r>
          </a:p>
          <a:p>
            <a:endParaRPr/>
          </a:p>
          <a:p>
            <a:r>
              <a:t>Then the cache. TDA keeps two. The positive cache stores features from</a:t>
            </a:r>
          </a:p>
          <a:p>
            <a:r>
              <a:t>samples it is confident about, filed under the class it itself predicted -</a:t>
            </a:r>
          </a:p>
          <a:p>
            <a:r>
              <a:t>these are pseudo-labels, there is no ground truth anywhere - and it keeps at</a:t>
            </a:r>
          </a:p>
          <a:p>
            <a:r>
              <a:t>most three per class. The negative cache stores mid-entropy samples, which</a:t>
            </a:r>
          </a:p>
          <a:p>
            <a:r>
              <a:t>carry evidence about what a class is not.</a:t>
            </a:r>
          </a:p>
          <a:p>
            <a:endParaRPr/>
          </a:p>
          <a:p>
            <a:r>
              <a:t>For a new image, TDA looks up both caches by feature similarity and converts</a:t>
            </a:r>
          </a:p>
          <a:p>
            <a:r>
              <a:t>them into extra logits.</a:t>
            </a:r>
          </a:p>
          <a:p>
            <a:endParaRPr/>
          </a:p>
          <a:p>
            <a:r>
              <a:t>The bottom line is the one to remember: final logits are CLIP logits, plus</a:t>
            </a:r>
          </a:p>
          <a:p>
            <a:r>
              <a:t>the positive cache term, minus the negative cache term. It is a sum of</a:t>
            </a:r>
          </a:p>
          <a:p>
            <a:r>
              <a:t>logits, not a re-normalised mixture of distributions. That detail is where</a:t>
            </a:r>
          </a:p>
          <a:p>
            <a:r>
              <a:t>the calibration problem comes from, and it is what our second contribution</a:t>
            </a:r>
          </a:p>
          <a:p>
            <a:r>
              <a:t>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design choices to pin down, because our method changes both.</a:t>
            </a:r>
          </a:p>
          <a:p>
            <a:endParaRPr/>
          </a:p>
          <a:p>
            <a:r>
              <a:t>First, admission is gated by entropy - low entropy means a peaked, decisive</a:t>
            </a:r>
          </a:p>
          <a:p>
            <a:r>
              <a:t>prediction. To be precise: the negative cache uses an entropy band, and the</a:t>
            </a:r>
          </a:p>
          <a:p>
            <a:r>
              <a:t>positive cache actually admits everything, using entropy only as the</a:t>
            </a:r>
          </a:p>
          <a:p>
            <a:r>
              <a:t>eviction key when a class slot is already full. We verified that in the</a:t>
            </a:r>
          </a:p>
          <a:p>
            <a:r>
              <a:t>source, and it matters later for what turning our own gate off has to mean.</a:t>
            </a:r>
          </a:p>
          <a:p>
            <a:endParaRPr/>
          </a:p>
          <a:p>
            <a:r>
              <a:t>Second, combination is additive: cache logits are added onto CLIP logits</a:t>
            </a:r>
          </a:p>
          <a:p>
            <a:r>
              <a:t>with tuned alpha and beta coefficients.</a:t>
            </a:r>
          </a:p>
          <a:p>
            <a:endParaRPr/>
          </a:p>
          <a:p>
            <a:r>
              <a:t>Now the problem, in the box. Entropy measures how loud a prediction is, not</a:t>
            </a:r>
          </a:p>
          <a:p>
            <a:r>
              <a:t>whether it is right. And there is no label at test time to check against. So</a:t>
            </a:r>
          </a:p>
          <a:p>
            <a:r>
              <a:t>a confidently wrong prediction enters the cache on exactly the same terms as</a:t>
            </a:r>
          </a:p>
          <a:p>
            <a:r>
              <a:t>a confidently right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far we have only talked about accuracy. But a classifier gives you two</a:t>
            </a:r>
          </a:p>
          <a:p>
            <a:r>
              <a:t>things per prediction: the class it chose, and a confidence - the</a:t>
            </a:r>
          </a:p>
          <a:p>
            <a:r>
              <a:t>probability it assigns to that choice.</a:t>
            </a:r>
          </a:p>
          <a:p>
            <a:endParaRPr/>
          </a:p>
          <a:p>
            <a:r>
              <a:t>A model is well-calibrated when that confidence matches reality. Among all</a:t>
            </a:r>
          </a:p>
          <a:p>
            <a:r>
              <a:t>the predictions it makes with eighty percent confidence, about eighty</a:t>
            </a:r>
          </a:p>
          <a:p>
            <a:r>
              <a:t>percent should actually be correct. An overconfident model - one that is</a:t>
            </a:r>
          </a:p>
          <a:p>
            <a:r>
              <a:t>right eighty percent of the time but routinely claims ninety-five - misleads</a:t>
            </a:r>
          </a:p>
          <a:p>
            <a:r>
              <a:t>anything downstream that acts on the number: a filter that auto-accepts</a:t>
            </a:r>
          </a:p>
          <a:p>
            <a:r>
              <a:t>confident predictions, a human deciding whether to double-check, an</a:t>
            </a:r>
          </a:p>
          <a:p>
            <a:r>
              <a:t>abstention rule.</a:t>
            </a:r>
          </a:p>
          <a:p>
            <a:endParaRPr/>
          </a:p>
          <a:p>
            <a:r>
              <a:t>Expected Calibration Error turns this into one number, in three steps.</a:t>
            </a:r>
          </a:p>
          <a:p>
            <a:r>
              <a:t>First, sort all the predictions into bins by their confidence - we use</a:t>
            </a:r>
          </a:p>
          <a:p>
            <a:r>
              <a:t>twenty equal-width bins. Second, inside each bin, compare the average</a:t>
            </a:r>
          </a:p>
          <a:p>
            <a:r>
              <a:t>confidence to the actual accuracy of those predictions. Third, average those</a:t>
            </a:r>
          </a:p>
          <a:p>
            <a:r>
              <a:t>per-bin gaps, weighting each bin by how many predictions it holds. A</a:t>
            </a:r>
          </a:p>
          <a:p>
            <a:r>
              <a:t>concrete example: if the ninety-to-ninety-five percent bin holds two hundred</a:t>
            </a:r>
          </a:p>
          <a:p>
            <a:r>
              <a:t>predictions averaging ninety-two percent confidence but only seventy-five</a:t>
            </a:r>
          </a:p>
          <a:p>
            <a:r>
              <a:t>percent of them are right, that bin contributes a seventeen-point gap.</a:t>
            </a:r>
          </a:p>
          <a:p>
            <a:endParaRPr/>
          </a:p>
          <a:p>
            <a:r>
              <a:t>The diagram on the right shows the same thing visually, on synthetic curves.</a:t>
            </a:r>
          </a:p>
          <a:p>
            <a:r>
              <a:t>Perfect calibration is the dashed diagonal - accuracy equals confidence</a:t>
            </a:r>
          </a:p>
          <a:p>
            <a:r>
              <a:t>everywhere. An overconfident model sags below it, and the purple segment is</a:t>
            </a:r>
          </a:p>
          <a:p>
            <a:r>
              <a:t>one bin's gap. ECE is just the weighted average of all those gaps: zero</a:t>
            </a:r>
          </a:p>
          <a:p>
            <a:r>
              <a:t>means every confidence level is honest, and higher means the number the</a:t>
            </a:r>
          </a:p>
          <a:p>
            <a:r>
              <a:t>model reports cannot be trusted.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the problem this project is about, as the literature reports it.</a:t>
            </a:r>
          </a:p>
          <a:p>
            <a:endParaRPr/>
          </a:p>
          <a:p>
            <a:r>
              <a:t>A NeurIPS 2025 benchmark - pointedly titled "The Illusion of Progress?" -</a:t>
            </a:r>
          </a:p>
          <a:p>
            <a:r>
              <a:t>measured test-time adaptation methods across ten datasets, and found that</a:t>
            </a:r>
          </a:p>
          <a:p>
            <a:r>
              <a:t>TDA's accuracy gains come with a hidden bill. Average calibration error</a:t>
            </a:r>
          </a:p>
          <a:p>
            <a:r>
              <a:t>rises from 5.70 to 9.21 percent - it nearly doubles - at the same time as</a:t>
            </a:r>
          </a:p>
          <a:p>
            <a:r>
              <a:t>accuracy improves. The predictions get better while the confidence attached</a:t>
            </a:r>
          </a:p>
          <a:p>
            <a:r>
              <a:t>to them gets less trustworthy.</a:t>
            </a:r>
          </a:p>
          <a:p>
            <a:endParaRPr/>
          </a:p>
          <a:p>
            <a:r>
              <a:t>What makes this interesting is that it is not a tuning accident. It follows</a:t>
            </a:r>
          </a:p>
          <a:p>
            <a:r>
              <a:t>from how TDA is built, and in the next three slides I will show you the</a:t>
            </a:r>
          </a:p>
          <a:p>
            <a:r>
              <a:t>mechanism - because our method is three attempts to break exactly that</a:t>
            </a:r>
          </a:p>
          <a:p>
            <a:r>
              <a:t>mechanism.</a:t>
            </a:r>
          </a:p>
          <a:p>
            <a:endParaRPr/>
          </a:p>
          <a:p>
            <a:r>
              <a:t>The project, in one sentence: close that calibration gap under the same</a:t>
            </a:r>
          </a:p>
          <a:p>
            <a:r>
              <a:t>rules TTA plays by - no retraining, and no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Put those two design choices together and you get a feedback loop.</a:t>
            </a:r>
          </a:p>
          <a:p>
            <a:endParaRPr/>
          </a:p>
          <a:p>
            <a:r>
              <a:t>A confident prediction - correct or not - gets cached. Later, a similar</a:t>
            </a:r>
          </a:p>
          <a:p>
            <a:r>
              <a:t>image retrieves it. The cache logits agree with CLIP logits, because the</a:t>
            </a:r>
          </a:p>
          <a:p>
            <a:r>
              <a:t>cache was built out of CLIP's own earlier opinion. Adding two agreeing logit</a:t>
            </a:r>
          </a:p>
          <a:p>
            <a:r>
              <a:t>vectors produces a sharper distribution than either one alone.</a:t>
            </a:r>
          </a:p>
          <a:p>
            <a:endParaRPr/>
          </a:p>
          <a:p>
            <a:r>
              <a:t>So confidence goes up. Accuracy does not necessarily follow, because nothing</a:t>
            </a:r>
          </a:p>
          <a:p>
            <a:r>
              <a:t>in that loop ever consulted a label. Confidently wrong predictions are</a:t>
            </a:r>
          </a:p>
          <a:p>
            <a:r>
              <a:t>reinforced exactly as efficiently as confidently right ones.</a:t>
            </a:r>
          </a:p>
          <a:p>
            <a:endParaRPr/>
          </a:p>
          <a:p>
            <a:r>
              <a:t>That is our diagnosis, and each of our three changes attacks one link in</a:t>
            </a:r>
          </a:p>
          <a:p>
            <a:r>
              <a:t>this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Change one attacks the admission gate.</a:t>
            </a:r>
          </a:p>
          <a:p>
            <a:endParaRPr/>
          </a:p>
          <a:p>
            <a:r>
              <a:t>The trouble with entropy is that it is a property of the whole distribution</a:t>
            </a:r>
          </a:p>
          <a:p>
            <a:r>
              <a:t>across all classes. On a hundred-class problem a long flat tail can drive</a:t>
            </a:r>
          </a:p>
          <a:p>
            <a:r>
              <a:t>entropy down even when the top two classes are essentially tied - and that</a:t>
            </a:r>
          </a:p>
          <a:p>
            <a:r>
              <a:t>tied case is exactly what we want to keep out of the cache.</a:t>
            </a:r>
          </a:p>
          <a:p>
            <a:endParaRPr/>
          </a:p>
          <a:p>
            <a:r>
              <a:t>The top-2 margin asks a narrower and more relevant question: did one class</a:t>
            </a:r>
          </a:p>
          <a:p>
            <a:r>
              <a:t>actually beat the runner-up?</a:t>
            </a:r>
          </a:p>
          <a:p>
            <a:endParaRPr/>
          </a:p>
          <a:p>
            <a:r>
              <a:t>One honest caveat, which becomes important later. We use a single global</a:t>
            </a:r>
          </a:p>
          <a:p>
            <a:r>
              <a:t>threshold of one point zero for every dataset. We could have tuned it per</a:t>
            </a:r>
          </a:p>
          <a:p>
            <a:r>
              <a:t>dataset, but fitting a threshold to each test set margin distribution is</a:t>
            </a:r>
          </a:p>
          <a:p>
            <a:r>
              <a:t>test-set tuning even though no labels are involved. The cost is that logit</a:t>
            </a:r>
          </a:p>
          <a:p>
            <a:r>
              <a:t>margins do not share a scale across datasets with different class counts:</a:t>
            </a:r>
          </a:p>
          <a:p>
            <a:r>
              <a:t>admission runs from 81.9 percent on Pets down to 15.9 percent on</a:t>
            </a:r>
          </a:p>
          <a:p>
            <a:r>
              <a:t>Aircraft, where the cache nearly starves. We report that rather than</a:t>
            </a:r>
          </a:p>
          <a:p>
            <a:r>
              <a:t>retune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Change two attacks the combination step.</a:t>
            </a:r>
          </a:p>
          <a:p>
            <a:endParaRPr/>
          </a:p>
          <a:p>
            <a:r>
              <a:t>Adding two logit vectors that agree gives you a distribution sharper than</a:t>
            </a:r>
          </a:p>
          <a:p>
            <a:r>
              <a:t>either one on its own. That is the step that manufactures confidence out of</a:t>
            </a:r>
          </a:p>
          <a:p>
            <a:r>
              <a:t>mere agreement.</a:t>
            </a:r>
          </a:p>
          <a:p>
            <a:endParaRPr/>
          </a:p>
          <a:p>
            <a:r>
              <a:t>A convex mixture of the two probability distributions cannot do that. A</a:t>
            </a:r>
          </a:p>
          <a:p>
            <a:r>
              <a:t>weighted average is bounded by its most confident input, so the cache can</a:t>
            </a:r>
          </a:p>
          <a:p>
            <a:r>
              <a:t>still change which class wins, but it cannot push the winning probability</a:t>
            </a:r>
          </a:p>
          <a:p>
            <a:r>
              <a:t>higher than both sources had.</a:t>
            </a:r>
          </a:p>
          <a:p>
            <a:endParaRPr/>
          </a:p>
          <a:p>
            <a:r>
              <a:t>We weight CLIP and cache equally, at one half. Keep this slide in mind -</a:t>
            </a:r>
          </a:p>
          <a:p>
            <a:r>
              <a:t>this is the change that goes most spectacularly wrong, and the reason is</a:t>
            </a:r>
          </a:p>
          <a:p>
            <a:r>
              <a:t>visible right here in the equation if you look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Change three is the one that worked, so let me be precise about it.</a:t>
            </a:r>
          </a:p>
          <a:p>
            <a:endParaRPr/>
          </a:p>
          <a:p>
            <a:r>
              <a:t>A well-calibrated model has mean confidence equal to its accuracy. We can</a:t>
            </a:r>
          </a:p>
          <a:p>
            <a:r>
              <a:t>measure mean confidence directly. The missing half is accuracy, which</a:t>
            </a:r>
          </a:p>
          <a:p>
            <a:r>
              <a:t>normally needs labels.</a:t>
            </a:r>
          </a:p>
          <a:p>
            <a:endParaRPr/>
          </a:p>
          <a:p>
            <a:r>
              <a:t>We estimate it without labels, using the cache itself: take the cached</a:t>
            </a:r>
          </a:p>
          <a:p>
            <a:r>
              <a:t>features and the pseudo-labels the method assigned them, and compute</a:t>
            </a:r>
          </a:p>
          <a:p>
            <a:r>
              <a:t>leave-one-out nearest-neighbour agreement. If the nearest neighbour of a</a:t>
            </a:r>
          </a:p>
          <a:p>
            <a:r>
              <a:t>cached item carries a different pseudo-label, the cache is internally</a:t>
            </a:r>
          </a:p>
          <a:p>
            <a:r>
              <a:t>inconsistent, and that is evidence the predictions are unreliable.</a:t>
            </a:r>
          </a:p>
          <a:p>
            <a:endParaRPr/>
          </a:p>
          <a:p>
            <a:r>
              <a:t>Then we grid-search the temperature that brings mean confidence onto that</a:t>
            </a:r>
          </a:p>
          <a:p>
            <a:r>
              <a:t>estimate. One design decision worth flagging: the grid floor is one, so the</a:t>
            </a:r>
          </a:p>
          <a:p>
            <a:r>
              <a:t>search can only smooth, never sharpen. If our label-free estimate comes out</a:t>
            </a:r>
          </a:p>
          <a:p>
            <a:r>
              <a:t>too optimistic, the worst case is that we do nothing, rather than making</a:t>
            </a:r>
          </a:p>
          <a:p>
            <a:r>
              <a:t>overconfidence worse.</a:t>
            </a:r>
          </a:p>
          <a:p>
            <a:endParaRPr/>
          </a:p>
          <a:p>
            <a:r>
              <a:t>And note the line at the bottom - dividing logits by a positive constant is</a:t>
            </a:r>
          </a:p>
          <a:p>
            <a:r>
              <a:t>monotonic, so it cannot change which class wins. This contribution can move</a:t>
            </a:r>
          </a:p>
          <a:p>
            <a:r>
              <a:t>calibration only. Accuracy is untouchable by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datasets, 19,257 test images per method, standard CoOp splits so</a:t>
            </a:r>
          </a:p>
          <a:p>
            <a:r>
              <a:t>our numbers are comparable to the benchmark paper. ViT-B/16, batch size one</a:t>
            </a:r>
          </a:p>
          <a:p>
            <a:r>
              <a:t>so it is genuinely online, seed zero, twenty-bin ECE.</a:t>
            </a:r>
          </a:p>
          <a:p>
            <a:endParaRPr/>
          </a:p>
          <a:p>
            <a:r>
              <a:t>One thing I want to highlight because it is easy to get wrong in this area:</a:t>
            </a:r>
          </a:p>
          <a:p>
            <a:r>
              <a:t>labels enter our codebase in exactly one function, the scorer that runs at</a:t>
            </a:r>
          </a:p>
          <a:p>
            <a:r>
              <a:t>the end of a run. No adaptation method ever receives a label. We enforce</a:t>
            </a:r>
          </a:p>
          <a:p>
            <a:r>
              <a:t>that with a test that inspects function signatures, so it cannot quietly</a:t>
            </a:r>
          </a:p>
          <a:p>
            <a:r>
              <a:t>decay as the code changes.</a:t>
            </a:r>
          </a:p>
          <a:p>
            <a:endParaRPr/>
          </a:p>
          <a:p>
            <a:r>
              <a:t>Two sweeps: fifteen headline runs, and 40 ablation runs covering all eight</a:t>
            </a:r>
          </a:p>
          <a:p>
            <a:r>
              <a:t>on/off combinations of our three changes on all five datasets.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result we set out to get, and did not get.</a:t>
            </a:r>
          </a:p>
          <a:p>
            <a:endParaRPr/>
          </a:p>
          <a:p>
            <a:r>
              <a:t>Top table, accuracy: our full method is below TDA on every single dataset.</a:t>
            </a:r>
          </a:p>
          <a:p>
            <a:r>
              <a:t>Bottom table, ECE: it is worse than TDA on four of five - and not slightly.</a:t>
            </a:r>
          </a:p>
          <a:p>
            <a:r>
              <a:t>Flowers goes from 6.39 to 32.73 percent, Pets from</a:t>
            </a:r>
          </a:p>
          <a:p>
            <a:r>
              <a:t>2.52 to 43.98 percent. Aircraft is the one dataset where the</a:t>
            </a:r>
          </a:p>
          <a:p>
            <a:r>
              <a:t>bundle genuinely helps calibration.</a:t>
            </a:r>
          </a:p>
          <a:p>
            <a:endParaRPr/>
          </a:p>
          <a:p>
            <a:r>
              <a:t>Our success criterion was: at least three of five datasets where we match or</a:t>
            </a:r>
          </a:p>
          <a:p>
            <a:r>
              <a:t>beat TDA accuracy while beating its ECE. We hit that on 0 of five.</a:t>
            </a:r>
          </a:p>
          <a:p>
            <a:endParaRPr/>
          </a:p>
          <a:p>
            <a:r>
              <a:t>I want to be direct about this rather than reframe it. The method as</a:t>
            </a:r>
          </a:p>
          <a:p>
            <a:r>
              <a:t>specified - all three contributions enabled together - fails. The</a:t>
            </a:r>
          </a:p>
          <a:p>
            <a:r>
              <a:t>interesting question is why, and that is what the ablation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Forty runs: all eight on/off combinations of our three changes, on all five</a:t>
            </a:r>
          </a:p>
          <a:p>
            <a:r>
              <a:t>datasets. Left panel is mean ECE, lower is better. Right panel is mean</a:t>
            </a:r>
          </a:p>
          <a:p>
            <a:r>
              <a:t>accuracy. Rows are sorted so the best-calibrated variant is on top.</a:t>
            </a:r>
          </a:p>
          <a:p>
            <a:endParaRPr/>
          </a:p>
          <a:p>
            <a:r>
              <a:t>The orange row is the baseline - all three flags off, which is TDA.</a:t>
            </a:r>
          </a:p>
          <a:p>
            <a:endParaRPr/>
          </a:p>
          <a:p>
            <a:r>
              <a:t>The purple row on top is temperature scaling alone, with margin admission</a:t>
            </a:r>
          </a:p>
          <a:p>
            <a:r>
              <a:t>and fusion both switched off. Mean ECE drops from 11.28 to 8.54</a:t>
            </a:r>
          </a:p>
          <a:p>
            <a:r>
              <a:t>percent, and look at the right panel: accuracy is identical, 56.60</a:t>
            </a:r>
          </a:p>
          <a:p>
            <a:r>
              <a:t>in both. Not approximately - exactly, to two decimals, on all five datasets.</a:t>
            </a:r>
          </a:p>
          <a:p>
            <a:r>
              <a:t>That is the structural guarantee from the previous slide showing up in the</a:t>
            </a:r>
          </a:p>
          <a:p>
            <a:r>
              <a:t>measurements: temperature scaling is monotonic, so it cannot move an argmax.</a:t>
            </a:r>
          </a:p>
          <a:p>
            <a:endParaRPr/>
          </a:p>
          <a:p>
            <a:r>
              <a:t>The hatched row, second from the bottom on ECE, is our full method. Nearly</a:t>
            </a:r>
          </a:p>
          <a:p>
            <a:r>
              <a:t>everything we added on top of temperature made things worse.</a:t>
            </a:r>
          </a:p>
          <a:p>
            <a:endParaRPr/>
          </a:p>
          <a:p>
            <a:r>
              <a:t>One honest qualifier: it wins on 4 of five datasets, not all five. Pets is</a:t>
            </a:r>
          </a:p>
          <a:p>
            <a:r>
              <a:t>the exception, and I will come back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diagnoses, one per card.</a:t>
            </a:r>
          </a:p>
          <a:p>
            <a:endParaRPr/>
          </a:p>
          <a:p>
            <a:r>
              <a:t>Margin admission: the single global threshold does not port across datasets</a:t>
            </a:r>
          </a:p>
          <a:p>
            <a:r>
              <a:t>with different class counts. On Aircraft, with a hundred classes, it admits</a:t>
            </a:r>
          </a:p>
          <a:p>
            <a:r>
              <a:t>under sixteen percent of samples and the cache starves. Mean accuracy drops</a:t>
            </a:r>
          </a:p>
          <a:p>
            <a:r>
              <a:t>almost three points, from 56.60 to 53.67. The signal it threw away</a:t>
            </a:r>
          </a:p>
          <a:p>
            <a:r>
              <a:t>was being used correctly.</a:t>
            </a:r>
          </a:p>
          <a:p>
            <a:endParaRPr/>
          </a:p>
          <a:p>
            <a:r>
              <a:t>Fusion: this one backfired in the opposite direction from the design intent.</a:t>
            </a:r>
          </a:p>
          <a:p>
            <a:r>
              <a:t>We built it to prevent over-confidence. But the cache logits are small and</a:t>
            </a:r>
          </a:p>
          <a:p>
            <a:r>
              <a:t>flat compared to CLIP's sharp distribution, so averaging them fifty-fifty caps</a:t>
            </a:r>
          </a:p>
          <a:p>
            <a:r>
              <a:t>top-one confidence well below one on every sample, whether it is right or</a:t>
            </a:r>
          </a:p>
          <a:p>
            <a:r>
              <a:t>wrong. The result is severe under-confidence - and ECE punishes that exactly</a:t>
            </a:r>
          </a:p>
          <a:p>
            <a:r>
              <a:t>as hard as over-confidence.</a:t>
            </a:r>
          </a:p>
          <a:p>
            <a:endParaRPr/>
          </a:p>
          <a:p>
            <a:r>
              <a:t>Third card: when margin and fusion are both on, the leave-one-out estimate</a:t>
            </a:r>
          </a:p>
          <a:p>
            <a:r>
              <a:t>is inflated, because a selectively-pure cache agrees with itself more than</a:t>
            </a:r>
          </a:p>
          <a:p>
            <a:r>
              <a:t>the true accuracy would. The search therefore wants to sharpen, and our</a:t>
            </a:r>
          </a:p>
          <a:p>
            <a:r>
              <a:t>floor at T equals one stops it. Between 98 and 100 percent of samples sit</a:t>
            </a:r>
          </a:p>
          <a:p>
            <a:r>
              <a:t>pinned at the no-op. So inside the bundle, contribution three is doing</a:t>
            </a:r>
          </a:p>
          <a:p>
            <a:r>
              <a:t>essentially nothing - which is why the bundle looks like margin plus fusion.</a:t>
            </a:r>
          </a:p>
          <a:p>
            <a:endParaRPr/>
          </a:p>
          <a:p>
            <a:r>
              <a:t>Finally, the box. On Pets, TDA is already extremely well calibrated. Our</a:t>
            </a:r>
          </a:p>
          <a:p>
            <a:r>
              <a:t>method still smooths, because it has no way to tell that smoothing was not</a:t>
            </a:r>
          </a:p>
          <a:p>
            <a:r>
              <a:t>needed, and ECE goes from 2.53 to 14.79 percent. We had developed on DTD,</a:t>
            </a:r>
          </a:p>
          <a:p>
            <a:r>
              <a:t>where the story was clean. Five datasets showed us the 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limitations we would want a reader to know.</a:t>
            </a:r>
          </a:p>
          <a:p>
            <a:endParaRPr/>
          </a:p>
          <a:p>
            <a:r>
              <a:t>The global margin threshold is not portable across class counts, and we</a:t>
            </a:r>
          </a:p>
          <a:p>
            <a:r>
              <a:t>chose not to tune it per dataset because that would be test-set tuning.</a:t>
            </a:r>
          </a:p>
          <a:p>
            <a:endParaRPr/>
          </a:p>
          <a:p>
            <a:r>
              <a:t>Temperature scaling has no stopping rule - it always smooths toward the</a:t>
            </a:r>
          </a:p>
          <a:p>
            <a:r>
              <a:t>estimate, even when the model was already honest. That is the Pets failure.</a:t>
            </a:r>
          </a:p>
          <a:p>
            <a:endParaRPr/>
          </a:p>
          <a:p>
            <a:r>
              <a:t>Five datasets, one backbone, one seed. Enough to establish that the bundle</a:t>
            </a:r>
          </a:p>
          <a:p>
            <a:r>
              <a:t>fails and that temperature alone helps on four of five. Not enough to claim</a:t>
            </a:r>
          </a:p>
          <a:p>
            <a:r>
              <a:t>either holds universally.</a:t>
            </a:r>
          </a:p>
          <a:p>
            <a:endParaRPr/>
          </a:p>
          <a:p>
            <a:r>
              <a:t>And the leave-one-out estimate is only as good as the cache it reads, so it</a:t>
            </a:r>
          </a:p>
          <a:p>
            <a:r>
              <a:t>inherits any bias the admission rule introduces. That coupling is exactly</a:t>
            </a:r>
          </a:p>
          <a:p>
            <a:r>
              <a:t>why contributions one and three interfere with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close.</a:t>
            </a:r>
          </a:p>
          <a:p>
            <a:endParaRPr/>
          </a:p>
          <a:p>
            <a:r>
              <a:t>The headline claim we can defend is the box: leave-one-out temperature</a:t>
            </a:r>
          </a:p>
          <a:p>
            <a:r>
              <a:t>scaling, applied on its own, cuts TDA mean calibration error from 11.28 to</a:t>
            </a:r>
          </a:p>
          <a:p>
            <a:r>
              <a:t>8.54 percent while leaving accuracy completely unchanged, on 4 of five</a:t>
            </a:r>
          </a:p>
          <a:p>
            <a:r>
              <a:t>datasets. It is training-free, label-free, and costs one grid search.</a:t>
            </a:r>
          </a:p>
          <a:p>
            <a:endParaRPr/>
          </a:p>
          <a:p>
            <a:r>
              <a:t>The bundle we originally proposed does not work, and we are not going to</a:t>
            </a:r>
          </a:p>
          <a:p>
            <a:r>
              <a:t>dress that up. Margin admission and probabilistic fusion are both harmful on</a:t>
            </a:r>
          </a:p>
          <a:p>
            <a:r>
              <a:t>average.</a:t>
            </a:r>
          </a:p>
          <a:p>
            <a:endParaRPr/>
          </a:p>
          <a:p>
            <a:r>
              <a:t>What I would argue we actually got out of this project is the diagnosis.</a:t>
            </a:r>
          </a:p>
          <a:p>
            <a:r>
              <a:t>The ablation - not our intuition - told us margin starves the cache, fusion</a:t>
            </a:r>
          </a:p>
          <a:p>
            <a:r>
              <a:t>manufactures under-confidence, and the two of them together render the one</a:t>
            </a:r>
          </a:p>
          <a:p>
            <a:r>
              <a:t>idea that works inert. We would not have known any of that from the headline</a:t>
            </a:r>
          </a:p>
          <a:p>
            <a:r>
              <a:t>numbers alone.</a:t>
            </a:r>
          </a:p>
          <a:p>
            <a:endParaRPr/>
          </a:p>
          <a:p>
            <a:r>
              <a:t>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B9A6D6"/>
                </a:solidFill>
                <a:latin typeface="Calibri"/>
              </a:rPr>
              <a:t>TAU  ·  DEEP LEARNING  · 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04288"/>
            <a:ext cx="102412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F5F2FA"/>
                </a:solidFill>
                <a:latin typeface="Calibri"/>
              </a:rPr>
              <a:t>Calibration-Aware
Test-Time Adaptation for CLIP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206240"/>
            <a:ext cx="10241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0" i="0">
                <a:solidFill>
                  <a:srgbClr val="F5F2FA"/>
                </a:solidFill>
                <a:latin typeface="Calibri"/>
              </a:rPr>
              <a:t>Gal Machlin  (207627811)          Idan Yehuda  (207016270)</a:t>
            </a:r>
          </a:p>
          <a:p>
            <a:pPr>
              <a:spcBef>
                <a:spcPts val="1000"/>
              </a:spcBef>
            </a:pPr>
            <a:r>
              <a:rPr sz="1400" b="0" i="1">
                <a:solidFill>
                  <a:srgbClr val="A8A2B8"/>
                </a:solidFill>
                <a:latin typeface="Calibri"/>
              </a:rPr>
              <a:t>Can we make test-time adaptation more trustworthy — not just more accurate — with no training and no labels?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7D5BA6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1A1F2B"/>
                </a:solidFill>
                <a:latin typeface="Calibri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566928" cy="713232"/>
          </a:xfrm>
          <a:prstGeom prst="roundRect">
            <a:avLst>
              <a:gd name="adj" fmla="val 22000"/>
            </a:avLst>
          </a:prstGeom>
          <a:solidFill>
            <a:srgbClr val="E7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5A6170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1874519"/>
            <a:ext cx="96926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 b="1" i="0">
                <a:solidFill>
                  <a:srgbClr val="1A1F2B"/>
                </a:solidFill>
                <a:latin typeface="Calibri"/>
              </a:rPr>
              <a:t>Background</a:t>
            </a:r>
            <a:r>
              <a:rPr sz="1400" b="0" i="0">
                <a:solidFill>
                  <a:srgbClr val="5A6170"/>
                </a:solidFill>
                <a:latin typeface="Calibri"/>
              </a:rPr>
              <a:t>     CLIP  ·  test-time adaptation  ·  what calibration means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15767"/>
            <a:ext cx="566928" cy="713232"/>
          </a:xfrm>
          <a:prstGeom prst="roundRect">
            <a:avLst>
              <a:gd name="adj" fmla="val 22000"/>
            </a:avLst>
          </a:prstGeom>
          <a:solidFill>
            <a:srgbClr val="E7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5A617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2715767"/>
            <a:ext cx="96926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 b="1" i="0" dirty="0">
                <a:solidFill>
                  <a:srgbClr val="1A1F2B"/>
                </a:solidFill>
                <a:latin typeface="Calibri"/>
              </a:rPr>
              <a:t>TDA</a:t>
            </a:r>
            <a:r>
              <a:rPr sz="1400" b="0" i="0" dirty="0">
                <a:solidFill>
                  <a:srgbClr val="5A6170"/>
                </a:solidFill>
                <a:latin typeface="Calibri"/>
              </a:rPr>
              <a:t>     the cache-based method we build on, and where it goes wrong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557015"/>
            <a:ext cx="566928" cy="713232"/>
          </a:xfrm>
          <a:prstGeom prst="roundRect">
            <a:avLst>
              <a:gd name="adj" fmla="val 22000"/>
            </a:avLst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3557015"/>
            <a:ext cx="96926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 b="1" i="0">
                <a:solidFill>
                  <a:srgbClr val="1A1F2B"/>
                </a:solidFill>
                <a:latin typeface="Calibri"/>
              </a:rPr>
              <a:t>Our method</a:t>
            </a:r>
            <a:r>
              <a:rPr sz="1400" b="0" i="0">
                <a:solidFill>
                  <a:srgbClr val="5A6170"/>
                </a:solidFill>
                <a:latin typeface="Calibri"/>
              </a:rPr>
              <a:t>     three independently-switchable, training-free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398263"/>
            <a:ext cx="566928" cy="713232"/>
          </a:xfrm>
          <a:prstGeom prst="roundRect">
            <a:avLst>
              <a:gd name="adj" fmla="val 22000"/>
            </a:avLst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4398263"/>
            <a:ext cx="96926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 b="1" i="0">
                <a:solidFill>
                  <a:srgbClr val="1A1F2B"/>
                </a:solidFill>
                <a:latin typeface="Calibri"/>
              </a:rPr>
              <a:t>Results</a:t>
            </a:r>
            <a:r>
              <a:rPr sz="1400" b="0" i="0">
                <a:solidFill>
                  <a:srgbClr val="5A6170"/>
                </a:solidFill>
                <a:latin typeface="Calibri"/>
              </a:rPr>
              <a:t>     headline numbers, the 40-run ablation, and the mechanism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239511"/>
            <a:ext cx="566928" cy="713232"/>
          </a:xfrm>
          <a:prstGeom prst="roundRect">
            <a:avLst>
              <a:gd name="adj" fmla="val 22000"/>
            </a:avLst>
          </a:prstGeom>
          <a:solidFill>
            <a:srgbClr val="E7E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5A6170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5239511"/>
            <a:ext cx="96926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 b="1" i="0">
                <a:solidFill>
                  <a:srgbClr val="1A1F2B"/>
                </a:solidFill>
                <a:latin typeface="Calibri"/>
              </a:rPr>
              <a:t>Conclusion</a:t>
            </a:r>
            <a:r>
              <a:rPr sz="1400" b="0" i="0">
                <a:solidFill>
                  <a:srgbClr val="5A6170"/>
                </a:solidFill>
                <a:latin typeface="Calibri"/>
              </a:rPr>
              <a:t>     what we stand behind, and what we do not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A6170"/>
                </a:solidFill>
                <a:latin typeface="Calibri"/>
              </a:rPr>
              <a:t>Calibration-Aware Test-Time Adaptation for CLIP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170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7D5BA6"/>
                </a:solidFill>
                <a:latin typeface="Calibri"/>
              </a:rPr>
              <a:t>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1A1F2B"/>
                </a:solidFill>
                <a:latin typeface="Calibri"/>
              </a:rPr>
              <a:t>What is CLIP?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6675120" cy="466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9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•   CLIP (OpenAI, 2021) is a vision-language model: one image encoder and one text encoder that map pictures and sentences into the same embedding space.</a:t>
            </a:r>
          </a:p>
          <a:p>
            <a:pPr marL="274320" indent="-274320">
              <a:spcAft>
                <a:spcPts val="9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•   Its purpose is to learn visual concepts from language itself, so a single frozen model can recognise anything that can be described in words.</a:t>
            </a:r>
          </a:p>
          <a:p>
            <a:pPr marL="274320" indent="-274320">
              <a:spcAft>
                <a:spcPts val="9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•   It was trained on ~400M web image-caption pairs with a contrastive objective: each image is pulled toward its true caption and pushed away from every other one.</a:t>
            </a:r>
          </a:p>
          <a:p>
            <a:pPr>
              <a:spcAft>
                <a:spcPts val="900"/>
              </a:spcAft>
            </a:pPr>
            <a:endParaRPr sz="1500" b="0" i="0">
              <a:solidFill>
                <a:srgbClr val="1A1F2B"/>
              </a:solidFill>
              <a:latin typeface="Calibri"/>
            </a:endParaRPr>
          </a:p>
          <a:p>
            <a:pPr marL="274320" indent="-274320">
              <a:spcAft>
                <a:spcPts val="9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•   “Zero-shot” classification means classifying into categories the model was never trained on, using zero labelled examples of them.</a:t>
            </a:r>
          </a:p>
          <a:p>
            <a:pPr marL="274320" indent="-274320">
              <a:spcAft>
                <a:spcPts val="9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•   It is used because it removes the cost of a new task entirely: no training data, no classifier head, no fine-tuning — the class names alone define the classifier.</a:t>
            </a:r>
          </a:p>
          <a:p>
            <a:pPr marL="786384" indent="-274320">
              <a:spcAft>
                <a:spcPts val="450"/>
              </a:spcAft>
            </a:pPr>
            <a:r>
              <a:rPr sz="1300" b="0" i="0">
                <a:solidFill>
                  <a:srgbClr val="5A6170"/>
                </a:solidFill>
                <a:latin typeface="Calibri"/>
              </a:rPr>
              <a:t>–   In practice, each class name is wrapped in a prompt (“a photo of a {class}”), every prompt is encoded, and an image is assigned to the nearest prompt.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874519"/>
            <a:ext cx="402336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8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0" y="2121408"/>
            <a:ext cx="352044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5A6170"/>
                </a:solidFill>
                <a:latin typeface="Calibri"/>
              </a:rPr>
              <a:t>The zero-shot rule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1A1F2B"/>
                </a:solidFill>
                <a:latin typeface="Calibri"/>
              </a:rPr>
              <a:t>logits  =  s · f(image) · g(prompts)ᵀ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5A6170"/>
                </a:solidFill>
                <a:latin typeface="Calibri"/>
              </a:rPr>
              <a:t>f  =  image encoder (frozen)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5A6170"/>
                </a:solidFill>
                <a:latin typeface="Calibri"/>
              </a:rPr>
              <a:t>g  =  text encoder over class prompts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5A6170"/>
                </a:solidFill>
                <a:latin typeface="Calibri"/>
              </a:rPr>
              <a:t>s  =  learned logit scale</a:t>
            </a:r>
          </a:p>
          <a:p>
            <a:pPr>
              <a:spcBef>
                <a:spcPts val="1400"/>
              </a:spcBef>
            </a:pPr>
            <a:r>
              <a:rPr sz="1400" b="1" i="0">
                <a:solidFill>
                  <a:srgbClr val="7D5BA6"/>
                </a:solidFill>
                <a:latin typeface="Calibri"/>
              </a:rPr>
              <a:t>prediction  =  argmax of those logits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A6170"/>
                </a:solidFill>
                <a:latin typeface="Calibri"/>
              </a:rPr>
              <a:t>Calibration-Aware Test-Time Adaptation for CLIP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170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7D5BA6"/>
                </a:solidFill>
                <a:latin typeface="Calibri"/>
              </a:rPr>
              <a:t>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1A1F2B"/>
                </a:solidFill>
                <a:latin typeface="Calibri"/>
              </a:rPr>
              <a:t>… but CLIP degrades badly out of distribution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" y="1965960"/>
            <a:ext cx="4572000" cy="1389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8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167128"/>
            <a:ext cx="393192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A1F2B"/>
                </a:solidFill>
                <a:latin typeface="Calibri"/>
              </a:rPr>
              <a:t>EuroSAT</a:t>
            </a:r>
            <a:r>
              <a:rPr sz="1150" b="0" i="0">
                <a:solidFill>
                  <a:srgbClr val="5A6170"/>
                </a:solidFill>
                <a:latin typeface="Calibri"/>
              </a:rPr>
              <a:t>    satellite land-use scenes</a:t>
            </a:r>
          </a:p>
          <a:p>
            <a:pPr>
              <a:spcBef>
                <a:spcPts val="600"/>
              </a:spcBef>
            </a:pPr>
            <a:r>
              <a:rPr sz="3200" b="1" i="0">
                <a:solidFill>
                  <a:srgbClr val="B34A3C"/>
                </a:solidFill>
                <a:latin typeface="Calibri"/>
              </a:rPr>
              <a:t>23.7%</a:t>
            </a:r>
            <a:r>
              <a:rPr sz="1200" b="0" i="0">
                <a:solidFill>
                  <a:srgbClr val="5A6170"/>
                </a:solidFill>
                <a:latin typeface="Calibri"/>
              </a:rPr>
              <a:t>   zero-shot CLIP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3739896"/>
            <a:ext cx="4572000" cy="1389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8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3941064"/>
            <a:ext cx="393192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A1F2B"/>
                </a:solidFill>
                <a:latin typeface="Calibri"/>
              </a:rPr>
              <a:t>FGVC-Aircraft</a:t>
            </a:r>
            <a:r>
              <a:rPr sz="1150" b="0" i="0">
                <a:solidFill>
                  <a:srgbClr val="5A6170"/>
                </a:solidFill>
                <a:latin typeface="Calibri"/>
              </a:rPr>
              <a:t>    100 fine-grained aircraft variants</a:t>
            </a:r>
          </a:p>
          <a:p>
            <a:pPr>
              <a:spcBef>
                <a:spcPts val="600"/>
              </a:spcBef>
            </a:pPr>
            <a:r>
              <a:rPr sz="3200" b="1" i="0">
                <a:solidFill>
                  <a:srgbClr val="B34A3C"/>
                </a:solidFill>
                <a:latin typeface="Calibri"/>
              </a:rPr>
              <a:t>15.7%</a:t>
            </a:r>
            <a:r>
              <a:rPr sz="1200" b="0" i="0">
                <a:solidFill>
                  <a:srgbClr val="5A6170"/>
                </a:solidFill>
                <a:latin typeface="Calibri"/>
              </a:rPr>
              <a:t>   zero-shot CLIP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52303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1">
                <a:solidFill>
                  <a:srgbClr val="5A6170"/>
                </a:solidFill>
                <a:latin typeface="Calibri"/>
              </a:rPr>
              <a:t>As reported by the benchmark suite we build on (arXiv:2506.24000).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572768"/>
            <a:ext cx="5852160" cy="466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1100"/>
              </a:spcAft>
            </a:pPr>
            <a:r>
              <a:rPr sz="1550" b="0" i="0">
                <a:solidFill>
                  <a:srgbClr val="1A1F2B"/>
                </a:solidFill>
                <a:latin typeface="Calibri"/>
              </a:rPr>
              <a:t>•   CLIP's training data is web imagery, so domains that look nothing like the web — satellite views, fine-grained aircraft variants, textures — are out of distribution for it.</a:t>
            </a:r>
          </a:p>
          <a:p>
            <a:pPr marL="274320" indent="-274320">
              <a:spcAft>
                <a:spcPts val="1100"/>
              </a:spcAft>
            </a:pPr>
            <a:r>
              <a:rPr sz="1550" b="0" i="0">
                <a:solidFill>
                  <a:srgbClr val="1A1F2B"/>
                </a:solidFill>
                <a:latin typeface="Calibri"/>
              </a:rPr>
              <a:t>•   On those domains, zero-shot accuracy collapses to the numbers on the left: a model that names everyday objects effortlessly cannot tell two aircraft apart.</a:t>
            </a:r>
          </a:p>
          <a:p>
            <a:pPr>
              <a:spcAft>
                <a:spcPts val="1100"/>
              </a:spcAft>
            </a:pPr>
            <a:endParaRPr sz="1550" b="0" i="0">
              <a:solidFill>
                <a:srgbClr val="1A1F2B"/>
              </a:solidFill>
              <a:latin typeface="Calibri"/>
            </a:endParaRPr>
          </a:p>
          <a:p>
            <a:pPr marL="274320" indent="-274320">
              <a:spcAft>
                <a:spcPts val="1100"/>
              </a:spcAft>
            </a:pPr>
            <a:r>
              <a:rPr sz="1550" b="0" i="0">
                <a:solidFill>
                  <a:srgbClr val="1A1F2B"/>
                </a:solidFill>
                <a:latin typeface="Calibri"/>
              </a:rPr>
              <a:t>•   The usual remedy would be fine-tuning on the new domain. Here that door is closed: the new domain comes with no labels, and retraining a backbone for every deployment target is not realistic.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559552"/>
            <a:ext cx="50800" cy="603504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5559552"/>
            <a:ext cx="1089324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50" b="1" i="0" dirty="0">
                <a:solidFill>
                  <a:srgbClr val="1A1F2B"/>
                </a:solidFill>
                <a:latin typeface="Calibri"/>
              </a:rPr>
              <a:t>Test-time adaptation attacks exactly this gap, using only the test images themselves.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A6170"/>
                </a:solidFill>
                <a:latin typeface="Calibri"/>
              </a:rPr>
              <a:t>Calibration-Aware Test-Time Adaptation for CLIP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170"/>
                </a:solidFill>
                <a:latin typeface="Calibr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7D5BA6"/>
                </a:solidFill>
                <a:latin typeface="Calibri"/>
              </a:rPr>
              <a:t>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1A1F2B"/>
                </a:solidFill>
                <a:latin typeface="Calibri"/>
              </a:rPr>
              <a:t>What is test-time adaptation? TDA, by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64240" cy="466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8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•   Test-time adaptation (TTA) adapts the model while it is already deployed, using only the unlabelled test images as they arrive — no labels, no training run.</a:t>
            </a:r>
          </a:p>
          <a:p>
            <a:pPr marL="274320" indent="-274320">
              <a:spcAft>
                <a:spcPts val="8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•   Many TTA methods exist. We build on TDA (CVPR 2024): forward passes only, plus a small memory of past test images. Here is what that memory does, on one photo.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944368"/>
            <a:ext cx="2476423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8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50" b="1" i="0" dirty="0">
                <a:solidFill>
                  <a:srgbClr val="1A1F2B"/>
                </a:solidFill>
                <a:latin typeface="Calibri"/>
              </a:rPr>
              <a:t>1 · A photo arrives</a:t>
            </a:r>
          </a:p>
          <a:p>
            <a:pPr algn="ctr"/>
            <a:r>
              <a:rPr sz="1250" b="0" i="0" dirty="0">
                <a:solidFill>
                  <a:srgbClr val="5A6170"/>
                </a:solidFill>
                <a:latin typeface="Calibri"/>
              </a:rPr>
              <a:t>
Frozen CLIP turns it into a feature vector — its position in the embedding space — and predicts, say, 737‑800 with high confidence.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98215" y="3826764"/>
            <a:ext cx="274320" cy="292608"/>
          </a:xfrm>
          <a:prstGeom prst="rightArrow">
            <a:avLst/>
          </a:prstGeom>
          <a:solidFill>
            <a:srgbClr val="C9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27399" y="2944368"/>
            <a:ext cx="2476423" cy="2057400"/>
          </a:xfrm>
          <a:prstGeom prst="roundRect">
            <a:avLst>
              <a:gd name="adj" fmla="val 12000"/>
            </a:avLst>
          </a:prstGeom>
          <a:solidFill>
            <a:srgbClr val="ECE6F3"/>
          </a:solidFill>
          <a:ln w="15875">
            <a:solidFill>
              <a:srgbClr val="7D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50" b="1" i="0" dirty="0">
                <a:solidFill>
                  <a:srgbClr val="1A1F2B"/>
                </a:solidFill>
                <a:latin typeface="Calibri"/>
              </a:rPr>
              <a:t>2 · Store it</a:t>
            </a:r>
          </a:p>
          <a:p>
            <a:pPr algn="ctr"/>
            <a:r>
              <a:rPr sz="1250" b="0" i="0" dirty="0">
                <a:solidFill>
                  <a:srgbClr val="5A6170"/>
                </a:solidFill>
                <a:latin typeface="Calibri"/>
              </a:rPr>
              <a:t>
The feature is cached under CLIP's own guess, a pseudo-label. No ground truth is involved, so a confident mistake is stored just the same.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58686" y="3826764"/>
            <a:ext cx="274320" cy="292608"/>
          </a:xfrm>
          <a:prstGeom prst="rightArrow">
            <a:avLst/>
          </a:prstGeom>
          <a:solidFill>
            <a:srgbClr val="C9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87870" y="2944368"/>
            <a:ext cx="2476423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8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50" b="1" i="0">
                <a:solidFill>
                  <a:srgbClr val="1A1F2B"/>
                </a:solidFill>
                <a:latin typeface="Calibri"/>
              </a:rPr>
              <a:t>3 · A later photo arrives</a:t>
            </a:r>
          </a:p>
          <a:p>
            <a:pPr algn="ctr"/>
            <a:r>
              <a:rPr sz="1250" b="0" i="0">
                <a:solidFill>
                  <a:srgbClr val="5A6170"/>
                </a:solidFill>
                <a:latin typeface="Calibri"/>
              </a:rPr>
              <a:t>
Its feature is compared to every cached one by similarity in that space. Cached photos that look alike count; distant ones barely register.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19157" y="3826764"/>
            <a:ext cx="274320" cy="292608"/>
          </a:xfrm>
          <a:prstGeom prst="rightArrow">
            <a:avLst/>
          </a:prstGeom>
          <a:solidFill>
            <a:srgbClr val="C9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8341" y="2944368"/>
            <a:ext cx="2476423" cy="2057400"/>
          </a:xfrm>
          <a:prstGeom prst="roundRect">
            <a:avLst>
              <a:gd name="adj" fmla="val 12000"/>
            </a:avLst>
          </a:prstGeom>
          <a:solidFill>
            <a:srgbClr val="ECE6F3"/>
          </a:solidFill>
          <a:ln w="15875">
            <a:solidFill>
              <a:srgbClr val="7D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50" b="1" i="0">
                <a:solidFill>
                  <a:srgbClr val="1A1F2B"/>
                </a:solidFill>
                <a:latin typeface="Calibri"/>
              </a:rPr>
              <a:t>4 · Neighbours vote</a:t>
            </a:r>
          </a:p>
          <a:p>
            <a:pPr algn="ctr"/>
            <a:r>
              <a:rPr sz="1250" b="0" i="0">
                <a:solidFill>
                  <a:srgbClr val="5A6170"/>
                </a:solidFill>
                <a:latin typeface="Calibri"/>
              </a:rPr>
              <a:t>
Each similar cached item votes for its pseudo-label. Three nearby 737‑800s push the 737‑800 logit up, and the votes are added to CLIP's own logits.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349240"/>
            <a:ext cx="50800" cy="603504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1089324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50" b="1" i="0" dirty="0">
                <a:solidFill>
                  <a:srgbClr val="1A1F2B"/>
                </a:solidFill>
                <a:latin typeface="Calibri"/>
              </a:rPr>
              <a:t>The cache is a nearest-</a:t>
            </a:r>
            <a:r>
              <a:rPr sz="1650" b="1" i="0" dirty="0" err="1">
                <a:solidFill>
                  <a:srgbClr val="1A1F2B"/>
                </a:solidFill>
                <a:latin typeface="Calibri"/>
              </a:rPr>
              <a:t>neighbour</a:t>
            </a:r>
            <a:r>
              <a:rPr sz="1650" b="1" i="0" dirty="0">
                <a:solidFill>
                  <a:srgbClr val="1A1F2B"/>
                </a:solidFill>
                <a:latin typeface="Calibri"/>
              </a:rPr>
              <a:t> classifier grown from the test stream itself, labelled by CLIP's own earlier guesses.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A6170"/>
                </a:solidFill>
                <a:latin typeface="Calibri"/>
              </a:rPr>
              <a:t>Calibration-Aware Test-Time Adaptation for CLIP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170"/>
                </a:solidFill>
                <a:latin typeface="Calibr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7D5BA6"/>
                </a:solidFill>
                <a:latin typeface="Calibri"/>
              </a:rPr>
              <a:t>2 · TDA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 dirty="0">
                <a:solidFill>
                  <a:srgbClr val="1A1F2B"/>
                </a:solidFill>
                <a:latin typeface="Calibri"/>
              </a:rPr>
              <a:t>TDA, part 1: a cache of past test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82699" y="1965960"/>
            <a:ext cx="23317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8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 i="0">
                <a:solidFill>
                  <a:srgbClr val="1A1F2B"/>
                </a:solidFill>
                <a:latin typeface="Calibri"/>
              </a:rPr>
              <a:t>Test image  x</a:t>
            </a:r>
          </a:p>
          <a:p>
            <a:pPr algn="ctr"/>
            <a:r>
              <a:rPr sz="1050" b="0" i="0">
                <a:solidFill>
                  <a:srgbClr val="5A6170"/>
                </a:solidFill>
                <a:latin typeface="Calibri"/>
              </a:rPr>
              <a:t>one image, arriving online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69283" y="2176272"/>
            <a:ext cx="365760" cy="292608"/>
          </a:xfrm>
          <a:prstGeom prst="rightArrow">
            <a:avLst/>
          </a:prstGeom>
          <a:solidFill>
            <a:srgbClr val="C9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89907" y="1965960"/>
            <a:ext cx="31546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8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 i="0">
                <a:solidFill>
                  <a:srgbClr val="1A1F2B"/>
                </a:solidFill>
                <a:latin typeface="Calibri"/>
              </a:rPr>
              <a:t>Frozen CLIP encoders</a:t>
            </a:r>
          </a:p>
          <a:p>
            <a:pPr algn="ctr"/>
            <a:r>
              <a:rPr sz="1050" b="0" i="0">
                <a:solidFill>
                  <a:srgbClr val="5A6170"/>
                </a:solidFill>
                <a:latin typeface="Calibri"/>
              </a:rPr>
              <a:t>no backprop, no labels, no retraining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499451" y="2176272"/>
            <a:ext cx="365760" cy="292608"/>
          </a:xfrm>
          <a:prstGeom prst="rightArrow">
            <a:avLst/>
          </a:prstGeom>
          <a:solidFill>
            <a:srgbClr val="C9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20075" y="1965960"/>
            <a:ext cx="2788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8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 i="0" dirty="0">
                <a:solidFill>
                  <a:srgbClr val="1A1F2B"/>
                </a:solidFill>
                <a:latin typeface="Calibri"/>
              </a:rPr>
              <a:t>Zero-shot logits</a:t>
            </a:r>
          </a:p>
          <a:p>
            <a:pPr algn="ctr"/>
            <a:r>
              <a:rPr sz="1050" b="0" i="0" dirty="0">
                <a:solidFill>
                  <a:srgbClr val="5A6170"/>
                </a:solidFill>
                <a:latin typeface="Calibri"/>
              </a:rPr>
              <a:t>image features @ text features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49543" y="2743200"/>
            <a:ext cx="292608" cy="384048"/>
          </a:xfrm>
          <a:prstGeom prst="downArrow">
            <a:avLst/>
          </a:prstGeom>
          <a:solidFill>
            <a:srgbClr val="C9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843888" y="3200400"/>
            <a:ext cx="3977639" cy="841248"/>
          </a:xfrm>
          <a:prstGeom prst="roundRect">
            <a:avLst>
              <a:gd name="adj" fmla="val 12000"/>
            </a:avLst>
          </a:prstGeom>
          <a:solidFill>
            <a:srgbClr val="ECE6F3"/>
          </a:solidFill>
          <a:ln w="15875">
            <a:solidFill>
              <a:srgbClr val="7D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 i="0" dirty="0">
                <a:solidFill>
                  <a:srgbClr val="1A1F2B"/>
                </a:solidFill>
                <a:latin typeface="Calibri"/>
              </a:rPr>
              <a:t>Positive cache</a:t>
            </a:r>
          </a:p>
          <a:p>
            <a:pPr algn="ctr"/>
            <a:r>
              <a:rPr sz="1050" b="0" i="0" dirty="0">
                <a:solidFill>
                  <a:srgbClr val="5A6170"/>
                </a:solidFill>
                <a:latin typeface="Calibri"/>
              </a:rPr>
              <a:t>confident samples, keyed by their own pseudo-label, 3 per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0167" y="3200400"/>
            <a:ext cx="3977639" cy="841248"/>
          </a:xfrm>
          <a:prstGeom prst="roundRect">
            <a:avLst>
              <a:gd name="adj" fmla="val 12000"/>
            </a:avLst>
          </a:prstGeom>
          <a:solidFill>
            <a:srgbClr val="F7EAE1"/>
          </a:solidFill>
          <a:ln w="15875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 i="0" dirty="0">
                <a:solidFill>
                  <a:srgbClr val="1A1F2B"/>
                </a:solidFill>
                <a:latin typeface="Calibri"/>
              </a:rPr>
              <a:t>Negative cache</a:t>
            </a:r>
          </a:p>
          <a:p>
            <a:pPr algn="ctr"/>
            <a:r>
              <a:rPr sz="1050" b="0" i="0" dirty="0">
                <a:solidFill>
                  <a:srgbClr val="5A6170"/>
                </a:solidFill>
                <a:latin typeface="Calibri"/>
              </a:rPr>
              <a:t>mid-entropy samples: evidence for what the class is NOT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9543" y="4105656"/>
            <a:ext cx="292608" cy="384048"/>
          </a:xfrm>
          <a:prstGeom prst="downArrow">
            <a:avLst/>
          </a:prstGeom>
          <a:solidFill>
            <a:srgbClr val="C9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66928" y="4572000"/>
            <a:ext cx="11057839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A1F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1A1F2B"/>
                </a:solidFill>
                <a:latin typeface="Calibri"/>
              </a:rPr>
              <a:t>final logits  =  CLIP logits  +  α · cache_pos  −  α_neg · cache_neg</a:t>
            </a:r>
          </a:p>
          <a:p>
            <a:pPr algn="ctr"/>
            <a:r>
              <a:rPr sz="1050" b="0" i="0">
                <a:solidFill>
                  <a:srgbClr val="5A6170"/>
                </a:solidFill>
                <a:latin typeface="Calibri"/>
              </a:rPr>
              <a:t>a sum of logits, not a re-normalised mixture  -  remember this 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440680"/>
            <a:ext cx="50800" cy="603504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1089324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50" b="1" i="0" dirty="0">
                <a:solidFill>
                  <a:srgbClr val="1A1F2B"/>
                </a:solidFill>
                <a:latin typeface="Calibri"/>
              </a:rPr>
              <a:t>Forward passes only. The cache IS the adaptation - no gradients, no labels.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A6170"/>
                </a:solidFill>
                <a:latin typeface="Calibri"/>
              </a:rPr>
              <a:t>Calibration-Aware Test-Time Adaptation for CLIP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170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7D5BA6"/>
                </a:solidFill>
                <a:latin typeface="Calibri"/>
              </a:rPr>
              <a:t>2 · TDA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1A1F2B"/>
                </a:solidFill>
                <a:latin typeface="Calibri"/>
              </a:rPr>
              <a:t>TDA, part 2: who gets into the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64240" cy="1967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800"/>
              </a:spcAft>
            </a:pPr>
            <a:r>
              <a:rPr sz="1550" b="0" i="0" dirty="0">
                <a:solidFill>
                  <a:srgbClr val="1A1F2B"/>
                </a:solidFill>
                <a:latin typeface="Calibri"/>
              </a:rPr>
              <a:t>•   Admission is gated by ENTROPY. The negative cache admits a sample only when its normalized prediction entropy falls inside a band (0.2 - 0.5). The positive cache admits every sample, and uses entropy to decide what to evict once a class is full.</a:t>
            </a:r>
          </a:p>
          <a:p>
            <a:pPr marL="786384" indent="-274320">
              <a:spcAft>
                <a:spcPts val="400"/>
              </a:spcAft>
            </a:pPr>
            <a:r>
              <a:rPr sz="1350" b="0" i="0" dirty="0">
                <a:solidFill>
                  <a:srgbClr val="5A6170"/>
                </a:solidFill>
                <a:latin typeface="Calibri"/>
              </a:rPr>
              <a:t>–   Entropy measures how peaked a prediction is - how loudly the model asserts it.</a:t>
            </a:r>
          </a:p>
          <a:p>
            <a:pPr>
              <a:spcAft>
                <a:spcPts val="800"/>
              </a:spcAft>
            </a:pPr>
            <a:endParaRPr sz="1350" b="0" i="0" dirty="0">
              <a:solidFill>
                <a:srgbClr val="5A6170"/>
              </a:solidFill>
              <a:latin typeface="Calibri"/>
            </a:endParaRPr>
          </a:p>
          <a:p>
            <a:pPr marL="274320" indent="-274320">
              <a:spcAft>
                <a:spcPts val="800"/>
              </a:spcAft>
            </a:pPr>
            <a:r>
              <a:rPr sz="1550" b="0" i="0" dirty="0">
                <a:solidFill>
                  <a:srgbClr val="1A1F2B"/>
                </a:solidFill>
                <a:latin typeface="Calibri"/>
              </a:rPr>
              <a:t>•   Combination is ADDITIVE. Cache evidence is added onto CLIP logits, each term with its own tuned alpha and beta (per-dataset, from the original TDA paper).</a:t>
            </a:r>
          </a:p>
          <a:p>
            <a:pPr>
              <a:spcAft>
                <a:spcPts val="800"/>
              </a:spcAft>
            </a:pPr>
            <a:endParaRPr sz="1550" b="0" i="0" dirty="0">
              <a:solidFill>
                <a:srgbClr val="1A1F2B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4617720"/>
            <a:ext cx="11057839" cy="1188720"/>
          </a:xfrm>
          <a:prstGeom prst="roundRect">
            <a:avLst>
              <a:gd name="adj" fmla="val 4000"/>
            </a:avLst>
          </a:prstGeom>
          <a:solidFill>
            <a:srgbClr val="F7EAE1"/>
          </a:solidFill>
          <a:ln w="15875">
            <a:solidFill>
              <a:srgbClr val="D8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4809744"/>
            <a:ext cx="1041775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i="0" dirty="0">
                <a:solidFill>
                  <a:srgbClr val="1A1F2B"/>
                </a:solidFill>
                <a:latin typeface="Calibri"/>
              </a:rPr>
              <a:t>Neither the entropy gate nor the additive sum ever asks whether the prediction was CORRECT.</a:t>
            </a:r>
          </a:p>
          <a:p>
            <a:pPr>
              <a:spcBef>
                <a:spcPts val="500"/>
              </a:spcBef>
            </a:pPr>
            <a:r>
              <a:rPr sz="1350" b="0" i="0" dirty="0">
                <a:solidFill>
                  <a:srgbClr val="5A6170"/>
                </a:solidFill>
                <a:latin typeface="Calibri"/>
              </a:rPr>
              <a:t>A confidently wrong prediction is admitted on exactly the same terms as a confidently right one - and no label exists at test time to tell them apart.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A6170"/>
                </a:solidFill>
                <a:latin typeface="Calibri"/>
              </a:rPr>
              <a:t>Calibration-Aware Test-Time Adaptation for CLIP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170"/>
                </a:solidFill>
                <a:latin typeface="Calibri"/>
              </a:rPr>
              <a:t>9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7D5BA6"/>
                </a:solidFill>
                <a:latin typeface="Calibri"/>
              </a:rPr>
              <a:t>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1A1F2B"/>
                </a:solidFill>
                <a:latin typeface="Calibri"/>
              </a:rPr>
              <a:t>Accuracy is not the only thing that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6812280" cy="2772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900"/>
              </a:spcAft>
            </a:pPr>
            <a:r>
              <a:rPr sz="1450" b="0" i="0" dirty="0">
                <a:solidFill>
                  <a:srgbClr val="1A1F2B"/>
                </a:solidFill>
                <a:latin typeface="Calibri"/>
              </a:rPr>
              <a:t>•   Alongside every prediction, a classifier also reports a confidence — the probability it assigns to the class it chose.</a:t>
            </a:r>
          </a:p>
          <a:p>
            <a:pPr marL="274320" indent="-274320">
              <a:spcAft>
                <a:spcPts val="900"/>
              </a:spcAft>
            </a:pPr>
            <a:r>
              <a:rPr sz="1450" b="0" i="0" dirty="0">
                <a:solidFill>
                  <a:srgbClr val="1A1F2B"/>
                </a:solidFill>
                <a:latin typeface="Calibri"/>
              </a:rPr>
              <a:t>•   A model is well-calibrated when that confidence matches reality: among all the predictions it makes with 80% confidence, about 80% should actually be correct.</a:t>
            </a:r>
          </a:p>
          <a:p>
            <a:pPr marL="786384" indent="-274320">
              <a:spcAft>
                <a:spcPts val="450"/>
              </a:spcAft>
            </a:pPr>
            <a:r>
              <a:rPr sz="1250" b="0" i="0" dirty="0">
                <a:solidFill>
                  <a:srgbClr val="5A6170"/>
                </a:solidFill>
                <a:latin typeface="Calibri"/>
              </a:rPr>
              <a:t>–   An overconfident model — right 80% of the time while claiming 95% — misleads anything that acts on its output: a downstream filter, a human reviewer, an abstention rule.</a:t>
            </a:r>
          </a:p>
          <a:p>
            <a:pPr>
              <a:spcAft>
                <a:spcPts val="900"/>
              </a:spcAft>
            </a:pPr>
            <a:endParaRPr sz="1250" b="0" i="0" dirty="0">
              <a:solidFill>
                <a:srgbClr val="5A6170"/>
              </a:solidFill>
              <a:latin typeface="Calibri"/>
            </a:endParaRPr>
          </a:p>
          <a:p>
            <a:pPr marL="274320" indent="-274320">
              <a:spcAft>
                <a:spcPts val="900"/>
              </a:spcAft>
            </a:pPr>
            <a:r>
              <a:rPr sz="1450" b="0" i="0" dirty="0">
                <a:solidFill>
                  <a:srgbClr val="1A1F2B"/>
                </a:solidFill>
                <a:latin typeface="Calibri"/>
              </a:rPr>
              <a:t>•   Expected Calibration Error (ECE) turns this into a single number, in three steps: sort the predictions into bins by their confidence; inside each bin, compare the average confidence to the actual accuracy; then average those gaps, weighting each bin by how many predictions landed in it.</a:t>
            </a:r>
          </a:p>
        </p:txBody>
      </p:sp>
      <p:pic>
        <p:nvPicPr>
          <p:cNvPr id="6" name="Picture 5" descr="what_is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674495"/>
            <a:ext cx="3977639" cy="364616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5212080"/>
            <a:ext cx="6812280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8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5340096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1" i="0" dirty="0">
                <a:solidFill>
                  <a:srgbClr val="1A1F2B"/>
                </a:solidFill>
                <a:latin typeface="Calibri"/>
              </a:rPr>
              <a:t>ECE  =  </a:t>
            </a:r>
            <a:r>
              <a:rPr sz="1450" b="1" i="0" dirty="0" err="1">
                <a:solidFill>
                  <a:srgbClr val="1A1F2B"/>
                </a:solidFill>
                <a:latin typeface="Calibri"/>
              </a:rPr>
              <a:t>Σ_b</a:t>
            </a:r>
            <a:r>
              <a:rPr sz="1450" b="1" i="0" dirty="0">
                <a:solidFill>
                  <a:srgbClr val="1A1F2B"/>
                </a:solidFill>
                <a:latin typeface="Calibri"/>
              </a:rPr>
              <a:t>  (</a:t>
            </a:r>
            <a:r>
              <a:rPr sz="1450" b="1" i="0" dirty="0" err="1">
                <a:solidFill>
                  <a:srgbClr val="1A1F2B"/>
                </a:solidFill>
                <a:latin typeface="Calibri"/>
              </a:rPr>
              <a:t>n_b</a:t>
            </a:r>
            <a:r>
              <a:rPr sz="1450" b="1" i="0" dirty="0">
                <a:solidFill>
                  <a:srgbClr val="1A1F2B"/>
                </a:solidFill>
                <a:latin typeface="Calibri"/>
              </a:rPr>
              <a:t> / N) · | accuracy(b) − confidence(b) |</a:t>
            </a:r>
          </a:p>
          <a:p>
            <a:pPr>
              <a:spcBef>
                <a:spcPts val="300"/>
              </a:spcBef>
            </a:pPr>
            <a:r>
              <a:rPr sz="1100" b="0" i="0" dirty="0">
                <a:solidFill>
                  <a:srgbClr val="5A6170"/>
                </a:solidFill>
                <a:latin typeface="Calibri"/>
              </a:rPr>
              <a:t>20 equal-width bins in this project  ·  0 means perfectly honest  ·  lower is better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5A6170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7D5BA6"/>
                </a:solidFill>
                <a:latin typeface="Calibri"/>
              </a:rPr>
              <a:t>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 dirty="0">
                <a:solidFill>
                  <a:srgbClr val="1A1F2B"/>
                </a:solidFill>
                <a:latin typeface="Calibri"/>
              </a:rPr>
              <a:t>TTA buys accuracy and pays for it in calibration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534924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8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084831"/>
            <a:ext cx="47091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dirty="0">
                <a:solidFill>
                  <a:srgbClr val="5A6170"/>
                </a:solidFill>
                <a:latin typeface="Calibri"/>
              </a:rPr>
              <a:t>Accuracy</a:t>
            </a:r>
          </a:p>
          <a:p>
            <a:pPr>
              <a:spcBef>
                <a:spcPts val="800"/>
              </a:spcBef>
            </a:pPr>
            <a:r>
              <a:rPr sz="2800" b="1" i="0" dirty="0">
                <a:solidFill>
                  <a:srgbClr val="7D5BA6"/>
                </a:solidFill>
                <a:latin typeface="Calibri"/>
              </a:rPr>
              <a:t>improves</a:t>
            </a:r>
          </a:p>
          <a:p>
            <a:pPr>
              <a:spcBef>
                <a:spcPts val="800"/>
              </a:spcBef>
            </a:pPr>
            <a:r>
              <a:rPr sz="1250" b="0" i="0" dirty="0">
                <a:solidFill>
                  <a:srgbClr val="5A6170"/>
                </a:solidFill>
                <a:latin typeface="Calibri"/>
              </a:rPr>
              <a:t>TTA methods recover a large share of the accuracy CLIP loses out of distribution — this is what they are built and published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874519"/>
            <a:ext cx="534924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8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1968" y="2084831"/>
            <a:ext cx="47091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5A6170"/>
                </a:solidFill>
                <a:latin typeface="Calibri"/>
              </a:rPr>
              <a:t>Calibration (ECE)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B34A3C"/>
                </a:solidFill>
                <a:latin typeface="Calibri"/>
              </a:rPr>
              <a:t>5.70%  →  9.21%</a:t>
            </a:r>
          </a:p>
          <a:p>
            <a:pPr>
              <a:spcBef>
                <a:spcPts val="800"/>
              </a:spcBef>
            </a:pPr>
            <a:r>
              <a:rPr sz="1250" b="0" i="0">
                <a:solidFill>
                  <a:srgbClr val="5A6170"/>
                </a:solidFill>
                <a:latin typeface="Calibri"/>
              </a:rPr>
              <a:t>Across the benchmark's suite, TDA's average calibration error nearly doubles while its accuracy improves — the confidence becomes less trustworthy exactly as the predictions get better.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51960"/>
            <a:ext cx="11057839" cy="1984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800"/>
              </a:spcAft>
            </a:pPr>
            <a:r>
              <a:rPr sz="1500" b="0" i="0" dirty="0">
                <a:solidFill>
                  <a:srgbClr val="1A1F2B"/>
                </a:solidFill>
                <a:latin typeface="Calibri"/>
              </a:rPr>
              <a:t>•   This is the finding of a 2025 </a:t>
            </a:r>
            <a:r>
              <a:rPr sz="1500" b="0" i="0" dirty="0" err="1">
                <a:solidFill>
                  <a:srgbClr val="1A1F2B"/>
                </a:solidFill>
                <a:latin typeface="Calibri"/>
              </a:rPr>
              <a:t>NeurIPS</a:t>
            </a:r>
            <a:r>
              <a:rPr sz="1500" b="0" i="0" dirty="0">
                <a:solidFill>
                  <a:srgbClr val="1A1F2B"/>
                </a:solidFill>
                <a:latin typeface="Calibri"/>
              </a:rPr>
              <a:t> benchmark (“The Illusion of Progress?”, arXiv:2506.24000), measured across ten datasets — and it is the gap this project set out to close.</a:t>
            </a:r>
          </a:p>
          <a:p>
            <a:pPr marL="274320" indent="-274320">
              <a:spcAft>
                <a:spcPts val="800"/>
              </a:spcAft>
            </a:pPr>
            <a:r>
              <a:rPr sz="1500" b="0" i="0" dirty="0">
                <a:solidFill>
                  <a:srgbClr val="1A1F2B"/>
                </a:solidFill>
                <a:latin typeface="Calibri"/>
              </a:rPr>
              <a:t>•   The cause is not an accident of tuning; it is built into how TDA works. The next three slides show the mechanism.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440680"/>
            <a:ext cx="50800" cy="603504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440680"/>
            <a:ext cx="1089324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50" b="1" i="0">
                <a:solidFill>
                  <a:srgbClr val="1A1F2B"/>
                </a:solidFill>
                <a:latin typeface="Calibri"/>
              </a:rPr>
              <a:t>The project: close that calibration gap without retraining and without labels.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A6170"/>
                </a:solidFill>
                <a:latin typeface="Calibri"/>
              </a:rPr>
              <a:t>Calibration-Aware Test-Time Adaptation for CLIP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170"/>
                </a:solidFill>
                <a:latin typeface="Calibri"/>
              </a:rPr>
              <a:t>7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7D5BA6"/>
                </a:solidFill>
                <a:latin typeface="Calibri"/>
              </a:rPr>
              <a:t>2 · TDA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1A1F2B"/>
                </a:solidFill>
                <a:latin typeface="Calibri"/>
              </a:rPr>
              <a:t>Why that breaks calibration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965960"/>
            <a:ext cx="457200" cy="457200"/>
          </a:xfrm>
          <a:prstGeom prst="ellipse">
            <a:avLst/>
          </a:prstGeom>
          <a:solidFill>
            <a:srgbClr val="5A6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96596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 i="0" dirty="0">
                <a:solidFill>
                  <a:srgbClr val="1A1F2B"/>
                </a:solidFill>
                <a:latin typeface="Calibri"/>
              </a:rPr>
              <a:t>A confident prediction is made</a:t>
            </a:r>
            <a:r>
              <a:rPr sz="1350" b="0" i="0" dirty="0">
                <a:solidFill>
                  <a:srgbClr val="5A6170"/>
                </a:solidFill>
                <a:latin typeface="Calibri"/>
              </a:rPr>
              <a:t>     entropy is low - right or wrong, it qualifies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697480"/>
            <a:ext cx="457200" cy="457200"/>
          </a:xfrm>
          <a:prstGeom prst="ellipse">
            <a:avLst/>
          </a:prstGeom>
          <a:solidFill>
            <a:srgbClr val="5A6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 i="0">
                <a:solidFill>
                  <a:srgbClr val="1A1F2B"/>
                </a:solidFill>
                <a:latin typeface="Calibri"/>
              </a:rPr>
              <a:t>It enters the positive cache</a:t>
            </a:r>
            <a:r>
              <a:rPr sz="1350" b="0" i="0">
                <a:solidFill>
                  <a:srgbClr val="5A6170"/>
                </a:solidFill>
                <a:latin typeface="Calibri"/>
              </a:rPr>
              <a:t>     filed under its own pseudo-label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429000"/>
            <a:ext cx="457200" cy="457200"/>
          </a:xfrm>
          <a:prstGeom prst="ellipse">
            <a:avLst/>
          </a:prstGeom>
          <a:solidFill>
            <a:srgbClr val="5A6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42900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 i="0" dirty="0">
                <a:solidFill>
                  <a:srgbClr val="1A1F2B"/>
                </a:solidFill>
                <a:latin typeface="Calibri"/>
              </a:rPr>
              <a:t>A similar image arrives later</a:t>
            </a:r>
            <a:r>
              <a:rPr sz="1350" b="0" i="0" dirty="0">
                <a:solidFill>
                  <a:srgbClr val="5A6170"/>
                </a:solidFill>
                <a:latin typeface="Calibri"/>
              </a:rPr>
              <a:t>     the cache retrieves that stored feature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160520"/>
            <a:ext cx="457200" cy="457200"/>
          </a:xfrm>
          <a:prstGeom prst="ellipse">
            <a:avLst/>
          </a:prstGeom>
          <a:solidFill>
            <a:srgbClr val="B3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16052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 i="0" dirty="0">
                <a:solidFill>
                  <a:srgbClr val="1A1F2B"/>
                </a:solidFill>
                <a:latin typeface="Calibri"/>
              </a:rPr>
              <a:t>Cache logits are ADDED to CLIP logits</a:t>
            </a:r>
            <a:r>
              <a:rPr sz="1350" b="0" i="0" dirty="0">
                <a:solidFill>
                  <a:srgbClr val="5A6170"/>
                </a:solidFill>
                <a:latin typeface="Calibri"/>
              </a:rPr>
              <a:t>     the two agree, so the sum is sharper than either alone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892040"/>
            <a:ext cx="457200" cy="457200"/>
          </a:xfrm>
          <a:prstGeom prst="ellipse">
            <a:avLst/>
          </a:prstGeom>
          <a:solidFill>
            <a:srgbClr val="B3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89204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 i="0" dirty="0">
                <a:solidFill>
                  <a:srgbClr val="1A1F2B"/>
                </a:solidFill>
                <a:latin typeface="Calibri"/>
              </a:rPr>
              <a:t>Confidence rises - accuracy need not</a:t>
            </a:r>
            <a:r>
              <a:rPr sz="1350" b="0" i="0" dirty="0">
                <a:solidFill>
                  <a:srgbClr val="5A6170"/>
                </a:solidFill>
                <a:latin typeface="Calibri"/>
              </a:rPr>
              <a:t>     the error has been reinforced, not corrected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669280"/>
            <a:ext cx="50800" cy="603504"/>
          </a:xfrm>
          <a:prstGeom prst="rect">
            <a:avLst/>
          </a:prstGeom>
          <a:solidFill>
            <a:srgbClr val="B3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89324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50" b="1" i="0">
                <a:solidFill>
                  <a:srgbClr val="1A1F2B"/>
                </a:solidFill>
                <a:latin typeface="Calibri"/>
              </a:rPr>
              <a:t>A feedback loop on confidence, with no term anywhere that depends on correctness.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A6170"/>
                </a:solidFill>
                <a:latin typeface="Calibri"/>
              </a:rPr>
              <a:t>Calibration-Aware Test-Time Adaptation for CLIP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170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7D5BA6"/>
                </a:solidFill>
                <a:latin typeface="Calibri"/>
              </a:rPr>
              <a:t>3 · 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900" b="1" i="0" dirty="0">
                <a:solidFill>
                  <a:srgbClr val="1A1F2B"/>
                </a:solidFill>
                <a:latin typeface="Calibri"/>
              </a:rPr>
              <a:t>Change 1 - </a:t>
            </a:r>
            <a:r>
              <a:rPr sz="2900" b="1" i="0" dirty="0">
                <a:solidFill>
                  <a:srgbClr val="1A1F2B"/>
                </a:solidFill>
                <a:latin typeface="Calibri"/>
              </a:rPr>
              <a:t>Admit by margin, not by entropy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527" y="1481328"/>
            <a:ext cx="1234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5A6170"/>
                </a:solidFill>
                <a:latin typeface="Calibri"/>
              </a:rP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6407" y="1481328"/>
            <a:ext cx="9738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50" b="0" i="0" dirty="0">
                <a:solidFill>
                  <a:srgbClr val="5A6170"/>
                </a:solidFill>
                <a:latin typeface="Calibri"/>
              </a:rPr>
              <a:t>TDA admits samples by entropy, which only measures how peaked the whole prediction 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527" y="2157984"/>
            <a:ext cx="1234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5A6170"/>
                </a:solidFill>
                <a:latin typeface="Calibri"/>
              </a:rPr>
              <a:t>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6407" y="2157984"/>
            <a:ext cx="9738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50" b="1" i="0" dirty="0">
                <a:solidFill>
                  <a:srgbClr val="7D5BA6"/>
                </a:solidFill>
                <a:latin typeface="Calibri"/>
              </a:rPr>
              <a:t>We admit a sample only when its top logit clearly beats the runner-up — proof one class won.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527" y="2871216"/>
            <a:ext cx="11057839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700"/>
              </a:spcAft>
            </a:pPr>
            <a:r>
              <a:rPr sz="1450" b="0" i="0" dirty="0">
                <a:solidFill>
                  <a:srgbClr val="1A1F2B"/>
                </a:solidFill>
                <a:latin typeface="Calibri"/>
              </a:rPr>
              <a:t>•   Entropy is a property of all C classes at once, so it can be driven low by a long flat tail even when the top two classes are nearly tied - exactly the ambiguous case we want kept out.</a:t>
            </a:r>
          </a:p>
          <a:p>
            <a:pPr marL="274320" indent="-274320">
              <a:spcAft>
                <a:spcPts val="700"/>
              </a:spcAft>
            </a:pPr>
            <a:r>
              <a:rPr sz="1450" b="0" i="0" dirty="0">
                <a:solidFill>
                  <a:srgbClr val="1A1F2B"/>
                </a:solidFill>
                <a:latin typeface="Calibri"/>
              </a:rPr>
              <a:t>•   The top-2 margin asks the narrower question: did one class actually beat the runner-up? That is a more direct signal of a decisive prediction.</a:t>
            </a:r>
          </a:p>
          <a:p>
            <a:pPr marL="786384" indent="-274320">
              <a:spcAft>
                <a:spcPts val="350"/>
              </a:spcAft>
            </a:pPr>
            <a:r>
              <a:rPr sz="1250" b="0" i="0" dirty="0">
                <a:solidFill>
                  <a:srgbClr val="5A6170"/>
                </a:solidFill>
                <a:latin typeface="Calibri"/>
              </a:rPr>
              <a:t>–   One GLOBAL threshold of 1, deliberately NOT tuned per dataset - fitting it to each test set would be test-set tuning, even without labels.</a:t>
            </a:r>
          </a:p>
          <a:p>
            <a:pPr marL="786384" indent="-274320">
              <a:spcAft>
                <a:spcPts val="350"/>
              </a:spcAft>
            </a:pPr>
            <a:r>
              <a:rPr sz="1250" b="0" i="0" dirty="0">
                <a:solidFill>
                  <a:srgbClr val="5A6170"/>
                </a:solidFill>
                <a:latin typeface="Calibri"/>
              </a:rPr>
              <a:t>–   Measured admission rates span 81.9% (Pets) down to 15.9% (Aircraft). We report that spread as a limitation rather than retuning it away.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0527" y="4572000"/>
            <a:ext cx="11057839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8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4847" y="4700016"/>
            <a:ext cx="1050919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A1F2B"/>
                </a:solidFill>
                <a:latin typeface="Calibri"/>
              </a:rPr>
              <a:t>margin(x)  =  top1(logits)  −  top2(logits)         admit  if  margin &gt; 1</a:t>
            </a:r>
            <a:r>
              <a:rPr sz="1200" b="0" i="1">
                <a:solidFill>
                  <a:srgbClr val="5A6170"/>
                </a:solidFill>
                <a:latin typeface="Calibri"/>
              </a:rPr>
              <a:t>      replaces the entropy gate; everything else in the cache is untouched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0527" y="5458968"/>
            <a:ext cx="50800" cy="603504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5119" y="5458968"/>
            <a:ext cx="1089324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50" b="1" i="0">
                <a:solidFill>
                  <a:srgbClr val="1A1F2B"/>
                </a:solidFill>
                <a:latin typeface="Calibri"/>
              </a:rPr>
              <a:t>Goal: keep confidently-ambiguous samples out of the cache in the first place.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527" y="61447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A6170"/>
                </a:solidFill>
                <a:latin typeface="Calibri"/>
              </a:rPr>
              <a:t>Calibration-Aware Test-Time Adaptation for CLIP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21086" y="614476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170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7D5BA6"/>
                </a:solidFill>
                <a:latin typeface="Calibri"/>
              </a:rPr>
              <a:t>3 · 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900" b="1" i="0" dirty="0">
                <a:solidFill>
                  <a:srgbClr val="1A1F2B"/>
                </a:solidFill>
                <a:latin typeface="Calibri"/>
              </a:rPr>
              <a:t>Change 2 - </a:t>
            </a:r>
            <a:r>
              <a:rPr sz="2900" b="1" i="0" dirty="0">
                <a:solidFill>
                  <a:srgbClr val="1A1F2B"/>
                </a:solidFill>
                <a:latin typeface="Calibri"/>
              </a:rPr>
              <a:t>Fuse probabilities, do not add logits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1481328"/>
            <a:ext cx="1234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5A6170"/>
                </a:solidFill>
                <a:latin typeface="Calibri"/>
              </a:rP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3664" y="1481328"/>
            <a:ext cx="9738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50" b="0" i="0">
                <a:solidFill>
                  <a:srgbClr val="5A6170"/>
                </a:solidFill>
                <a:latin typeface="Calibri"/>
              </a:rPr>
              <a:t>TDA adds the cache's logits onto CLIP's — an unbounded sum that can only grow sharper.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157984"/>
            <a:ext cx="1234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5A6170"/>
                </a:solidFill>
                <a:latin typeface="Calibri"/>
              </a:rPr>
              <a:t>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3664" y="2157984"/>
            <a:ext cx="9738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50" b="1" i="0">
                <a:solidFill>
                  <a:srgbClr val="7D5BA6"/>
                </a:solidFill>
                <a:latin typeface="Calibri"/>
              </a:rPr>
              <a:t>We take a convex mixture of the two probability distributions, bounded by its inputs.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871216"/>
            <a:ext cx="11057839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700"/>
              </a:spcAft>
            </a:pPr>
            <a:r>
              <a:rPr sz="1450" b="0" i="0">
                <a:solidFill>
                  <a:srgbClr val="1A1F2B"/>
                </a:solidFill>
                <a:latin typeface="Calibri"/>
              </a:rPr>
              <a:t>•   Adding two agreeing logit vectors produces a distribution sharper than either input. That is the mechanism that manufactures confidence out of agreement.</a:t>
            </a:r>
          </a:p>
          <a:p>
            <a:pPr marL="274320" indent="-274320">
              <a:spcAft>
                <a:spcPts val="700"/>
              </a:spcAft>
            </a:pPr>
            <a:r>
              <a:rPr sz="1450" b="0" i="0">
                <a:solidFill>
                  <a:srgbClr val="1A1F2B"/>
                </a:solidFill>
                <a:latin typeface="Calibri"/>
              </a:rPr>
              <a:t>•   A convex combination cannot do that: a weighted average is bounded by its most confident input, so agreement can change WHICH class wins without inflating HOW confident the answer is.</a:t>
            </a:r>
          </a:p>
          <a:p>
            <a:pPr marL="786384" indent="-274320">
              <a:spcAft>
                <a:spcPts val="350"/>
              </a:spcAft>
            </a:pPr>
            <a:r>
              <a:rPr sz="1250" b="0" i="0">
                <a:solidFill>
                  <a:srgbClr val="5A6170"/>
                </a:solidFill>
                <a:latin typeface="Calibri"/>
              </a:rPr>
              <a:t>–   Mixture weight fixed at 0.5 - CLIP and the cache are weighted equally.</a:t>
            </a:r>
          </a:p>
          <a:p>
            <a:pPr marL="786384" indent="-274320">
              <a:spcAft>
                <a:spcPts val="350"/>
              </a:spcAft>
            </a:pPr>
            <a:r>
              <a:rPr sz="1250" b="0" i="0">
                <a:solidFill>
                  <a:srgbClr val="5A6170"/>
                </a:solidFill>
                <a:latin typeface="Calibri"/>
              </a:rPr>
              <a:t>–   The negative cache stays on the CLIP side of the mixture, since it is a correction to CLIP's own evidence rather than independent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" y="4572000"/>
            <a:ext cx="11057839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8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" y="4700016"/>
            <a:ext cx="1050919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A1F2B"/>
                </a:solidFill>
                <a:latin typeface="Calibri"/>
              </a:rPr>
              <a:t>p  =  (1 − w) · softmax(clip)  +  w · softmax(cache),         w = 0.5</a:t>
            </a:r>
            <a:r>
              <a:rPr sz="1200" b="0" i="1">
                <a:solidFill>
                  <a:srgbClr val="5A6170"/>
                </a:solidFill>
                <a:latin typeface="Calibri"/>
              </a:rPr>
              <a:t>      bounded by its most confident input, by construction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" y="5458968"/>
            <a:ext cx="50800" cy="603504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458968"/>
            <a:ext cx="1089324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50" b="1" i="0">
                <a:solidFill>
                  <a:srgbClr val="1A1F2B"/>
                </a:solidFill>
                <a:latin typeface="Calibri"/>
              </a:rPr>
              <a:t>Goal: let the cache change the answer without inflating the confidence.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61447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A6170"/>
                </a:solidFill>
                <a:latin typeface="Calibri"/>
              </a:rPr>
              <a:t>Calibration-Aware Test-Time Adaptation for CLIP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8343" y="614476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170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7D5BA6"/>
                </a:solidFill>
                <a:latin typeface="Calibri"/>
              </a:rPr>
              <a:t>3 · 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900" b="1" i="0" dirty="0">
                <a:solidFill>
                  <a:srgbClr val="1A1F2B"/>
                </a:solidFill>
                <a:latin typeface="Calibri"/>
              </a:rPr>
              <a:t>Change 3 - </a:t>
            </a:r>
            <a:r>
              <a:rPr sz="2900" b="1" i="0" dirty="0">
                <a:solidFill>
                  <a:srgbClr val="1A1F2B"/>
                </a:solidFill>
                <a:latin typeface="Calibri"/>
              </a:rPr>
              <a:t>Pick a temperature with no labels at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1481328"/>
            <a:ext cx="1234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5A6170"/>
                </a:solidFill>
                <a:latin typeface="Calibri"/>
              </a:rP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3664" y="1481328"/>
            <a:ext cx="9738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50" b="0" i="0">
                <a:solidFill>
                  <a:srgbClr val="5A6170"/>
                </a:solidFill>
                <a:latin typeface="Calibri"/>
              </a:rPr>
              <a:t>TDA never rescales its output — whatever sharpness falls out of the sum is what you 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157984"/>
            <a:ext cx="1234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5A6170"/>
                </a:solidFill>
                <a:latin typeface="Calibri"/>
              </a:rPr>
              <a:t>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3664" y="2157984"/>
            <a:ext cx="9738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50" b="1" i="0">
                <a:solidFill>
                  <a:srgbClr val="7D5BA6"/>
                </a:solidFill>
                <a:latin typeface="Calibri"/>
              </a:rPr>
              <a:t>We divide the logits by a temperature chosen from a label-free estimate of accuracy.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871216"/>
            <a:ext cx="11057839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700"/>
              </a:spcAft>
            </a:pPr>
            <a:r>
              <a:rPr sz="1450" b="0" i="0">
                <a:solidFill>
                  <a:srgbClr val="1A1F2B"/>
                </a:solidFill>
                <a:latin typeface="Calibri"/>
              </a:rPr>
              <a:t>•   A well-calibrated model has mean confidence equal to its accuracy. We know the mean confidence; the missing half is the accuracy, which needs labels.</a:t>
            </a:r>
          </a:p>
          <a:p>
            <a:pPr marL="274320" indent="-274320">
              <a:spcAft>
                <a:spcPts val="700"/>
              </a:spcAft>
            </a:pPr>
            <a:r>
              <a:rPr sz="1450" b="0" i="0">
                <a:solidFill>
                  <a:srgbClr val="1A1F2B"/>
                </a:solidFill>
                <a:latin typeface="Calibri"/>
              </a:rPr>
              <a:t>•   We estimate it WITHOUT labels: leave-one-out 1-nearest-neighbour agreement among the cached features and the pseudo-labels the method itself assigned. A cache that disagrees with itself is a cache whose predictions are unreliable.</a:t>
            </a:r>
          </a:p>
          <a:p>
            <a:pPr marL="786384" indent="-274320">
              <a:spcAft>
                <a:spcPts val="350"/>
              </a:spcAft>
            </a:pPr>
            <a:r>
              <a:rPr sz="1250" b="0" i="0">
                <a:solidFill>
                  <a:srgbClr val="5A6170"/>
                </a:solidFill>
                <a:latin typeface="Calibri"/>
              </a:rPr>
              <a:t>–   Then grid-search the temperature whose mean confidence matches that estimate.</a:t>
            </a:r>
          </a:p>
          <a:p>
            <a:pPr marL="786384" indent="-274320">
              <a:spcAft>
                <a:spcPts val="350"/>
              </a:spcAft>
            </a:pPr>
            <a:r>
              <a:rPr sz="1250" b="0" i="0">
                <a:solidFill>
                  <a:srgbClr val="5A6170"/>
                </a:solidFill>
                <a:latin typeface="Calibri"/>
              </a:rPr>
              <a:t>–   The grid floor is 1.0, so the search can only SMOOTH, never sharpen. If the estimate is inflated, the worst case is a no-op instead of making things worse.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" y="4572000"/>
            <a:ext cx="11057839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8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" y="4700016"/>
            <a:ext cx="1050919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A1F2B"/>
                </a:solidFill>
                <a:latin typeface="Calibri"/>
              </a:rPr>
              <a:t>T*  =  argmin | mean-confidence(logits / T)  −  LOO-accuracy(cache) |,     T ≥ 1</a:t>
            </a:r>
            <a:r>
              <a:rPr sz="1200" b="0" i="1">
                <a:solidFill>
                  <a:srgbClr val="5A6170"/>
                </a:solidFill>
                <a:latin typeface="Calibri"/>
              </a:rPr>
              <a:t>      monotonic, so the argmax — and the accuracy — cannot 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" y="5458968"/>
            <a:ext cx="50800" cy="603504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458968"/>
            <a:ext cx="1089324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50" b="1" i="0">
                <a:solidFill>
                  <a:srgbClr val="1A1F2B"/>
                </a:solidFill>
                <a:latin typeface="Calibri"/>
              </a:rPr>
              <a:t>This contribution is structurally incapable of changing accuracy. It can only move ECE.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61447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A6170"/>
                </a:solidFill>
                <a:latin typeface="Calibri"/>
              </a:rPr>
              <a:t>Calibration-Aware Test-Time Adaptation for CLIP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8343" y="614476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170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7D5BA6"/>
                </a:solidFill>
                <a:latin typeface="Calibri"/>
              </a:rPr>
              <a:t>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1A1F2B"/>
                </a:solidFill>
                <a:latin typeface="Calibri"/>
              </a:rPr>
              <a:t>Experimental setup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920240"/>
          <a:ext cx="4572000" cy="21122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5A6170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64008" marR="64008" anchor="ctr">
                    <a:solidFill>
                      <a:srgbClr val="E7E2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5A6170"/>
                          </a:solidFill>
                          <a:latin typeface="Calibri"/>
                        </a:rPr>
                        <a:t>classes</a:t>
                      </a:r>
                    </a:p>
                  </a:txBody>
                  <a:tcPr marL="64008" marR="64008" anchor="ctr">
                    <a:solidFill>
                      <a:srgbClr val="E7E2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5A6170"/>
                          </a:solidFill>
                          <a:latin typeface="Calibri"/>
                        </a:rPr>
                        <a:t>test images</a:t>
                      </a:r>
                    </a:p>
                  </a:txBody>
                  <a:tcPr marL="64008" marR="64008" anchor="ctr">
                    <a:solidFill>
                      <a:srgbClr val="E7E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A1F2B"/>
                          </a:solidFill>
                          <a:latin typeface="Calibri"/>
                        </a:rPr>
                        <a:t>DTD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A1F2B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A1F2B"/>
                          </a:solidFill>
                          <a:latin typeface="Calibri"/>
                        </a:rPr>
                        <a:t>1,692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A1F2B"/>
                          </a:solidFill>
                          <a:latin typeface="Calibri"/>
                        </a:rPr>
                        <a:t>Flowers102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A1F2B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A1F2B"/>
                          </a:solidFill>
                          <a:latin typeface="Calibri"/>
                        </a:rPr>
                        <a:t>2,463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A1F2B"/>
                          </a:solidFill>
                          <a:latin typeface="Calibri"/>
                        </a:rPr>
                        <a:t>Pets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A1F2B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A1F2B"/>
                          </a:solidFill>
                          <a:latin typeface="Calibri"/>
                        </a:rPr>
                        <a:t>3,669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A1F2B"/>
                          </a:solidFill>
                          <a:latin typeface="Calibri"/>
                        </a:rPr>
                        <a:t>EuroSAT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A1F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A1F2B"/>
                          </a:solidFill>
                          <a:latin typeface="Calibri"/>
                        </a:rPr>
                        <a:t>8,100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A1F2B"/>
                          </a:solidFill>
                          <a:latin typeface="Calibri"/>
                        </a:rPr>
                        <a:t>Aircraft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A1F2B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1A1F2B"/>
                          </a:solidFill>
                          <a:latin typeface="Calibri"/>
                        </a:rPr>
                        <a:t>3,333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A1F2B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64008" marR="64008" anchor="ctr">
                    <a:solidFill>
                      <a:srgbClr val="ECE6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64008" marR="64008" anchor="ctr">
                    <a:solidFill>
                      <a:srgbClr val="ECE6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1A1F2B"/>
                          </a:solidFill>
                          <a:latin typeface="Calibri"/>
                        </a:rPr>
                        <a:t>19,257</a:t>
                      </a:r>
                    </a:p>
                  </a:txBody>
                  <a:tcPr marL="64008" marR="64008" anchor="ctr">
                    <a:solidFill>
                      <a:srgbClr val="ECE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0" y="1572768"/>
            <a:ext cx="6035040" cy="466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9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•   Backbone ViT-B/16, batch size 1 (true online streaming), seed 0, ECE with 20 bins.</a:t>
            </a:r>
          </a:p>
          <a:p>
            <a:pPr marL="274320" indent="-274320">
              <a:spcAft>
                <a:spcPts val="9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•   Test split only, using the standard CoOp splits so the numbers stay comparable to the benchmark paper.</a:t>
            </a:r>
          </a:p>
          <a:p>
            <a:pPr>
              <a:spcAft>
                <a:spcPts val="900"/>
              </a:spcAft>
            </a:pPr>
            <a:endParaRPr sz="1500" b="0" i="0">
              <a:solidFill>
                <a:srgbClr val="1A1F2B"/>
              </a:solidFill>
              <a:latin typeface="Calibri"/>
            </a:endParaRPr>
          </a:p>
          <a:p>
            <a:pPr marL="274320" indent="-274320">
              <a:spcAft>
                <a:spcPts val="9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•   Every method sees exactly the same images in the same order.</a:t>
            </a:r>
          </a:p>
          <a:p>
            <a:pPr marL="786384" indent="-274320">
              <a:spcAft>
                <a:spcPts val="450"/>
              </a:spcAft>
            </a:pPr>
            <a:r>
              <a:rPr sz="1300" b="0" i="0">
                <a:solidFill>
                  <a:srgbClr val="5A6170"/>
                </a:solidFill>
                <a:latin typeface="Calibri"/>
              </a:rPr>
              <a:t>–   Ground-truth labels are consumed in exactly ONE function in the whole codebase; no method ever receives one. A test enforces this by inspecting function signatures, so it cannot rot.</a:t>
            </a:r>
          </a:p>
          <a:p>
            <a:pPr>
              <a:spcAft>
                <a:spcPts val="900"/>
              </a:spcAft>
            </a:pPr>
            <a:endParaRPr sz="1300" b="0" i="0">
              <a:solidFill>
                <a:srgbClr val="5A6170"/>
              </a:solidFill>
              <a:latin typeface="Calibri"/>
            </a:endParaRPr>
          </a:p>
          <a:p>
            <a:pPr marL="274320" indent="-274320">
              <a:spcAft>
                <a:spcPts val="9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•   Two sweeps, both fully scripted and reproducible:</a:t>
            </a:r>
          </a:p>
          <a:p>
            <a:pPr marL="786384" indent="-274320">
              <a:spcAft>
                <a:spcPts val="450"/>
              </a:spcAft>
            </a:pPr>
            <a:r>
              <a:rPr sz="1300" b="0" i="0">
                <a:solidFill>
                  <a:srgbClr val="5A6170"/>
                </a:solidFill>
                <a:latin typeface="Calibri"/>
              </a:rPr>
              <a:t>–   Headline: 5 datasets x 3 methods = 15 runs (~41 min on an RTX 5060).</a:t>
            </a:r>
          </a:p>
          <a:p>
            <a:pPr marL="786384" indent="-274320">
              <a:spcAft>
                <a:spcPts val="450"/>
              </a:spcAft>
            </a:pPr>
            <a:r>
              <a:rPr sz="1300" b="0" i="0">
                <a:solidFill>
                  <a:srgbClr val="5A6170"/>
                </a:solidFill>
                <a:latin typeface="Calibri"/>
              </a:rPr>
              <a:t>–   Ablation: 5 datasets x 8 on/off combinations = 40 runs (~2.3 h).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A6170"/>
                </a:solidFill>
                <a:latin typeface="Calibri"/>
              </a:rPr>
              <a:t>Calibration-Aware Test-Time Adaptation for CLIP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170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7D5BA6"/>
                </a:solidFill>
                <a:latin typeface="Calibri"/>
              </a:rPr>
              <a:t>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1A1F2B"/>
                </a:solidFill>
                <a:latin typeface="Calibri"/>
              </a:rPr>
              <a:t>Headline result: the bundle does not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01368"/>
            <a:ext cx="6583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5A6170"/>
                </a:solidFill>
                <a:latin typeface="Calibri"/>
              </a:rPr>
              <a:t>Top-1 accuracy (%)   -   higher is better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057400"/>
          <a:ext cx="6629397" cy="11338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1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7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5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1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4008" marR="64008" anchor="ctr">
                    <a:solidFill>
                      <a:srgbClr val="E7E2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5A6170"/>
                          </a:solidFill>
                          <a:latin typeface="Calibri"/>
                        </a:rPr>
                        <a:t>DTD</a:t>
                      </a:r>
                    </a:p>
                  </a:txBody>
                  <a:tcPr marL="64008" marR="64008" anchor="ctr">
                    <a:solidFill>
                      <a:srgbClr val="E7E2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5A6170"/>
                          </a:solidFill>
                          <a:latin typeface="Calibri"/>
                        </a:rPr>
                        <a:t>Flowers102</a:t>
                      </a:r>
                    </a:p>
                  </a:txBody>
                  <a:tcPr marL="64008" marR="64008" anchor="ctr">
                    <a:solidFill>
                      <a:srgbClr val="E7E2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5A6170"/>
                          </a:solidFill>
                          <a:latin typeface="Calibri"/>
                        </a:rPr>
                        <a:t>Pets</a:t>
                      </a:r>
                    </a:p>
                  </a:txBody>
                  <a:tcPr marL="64008" marR="64008" anchor="ctr">
                    <a:solidFill>
                      <a:srgbClr val="E7E2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5A6170"/>
                          </a:solidFill>
                          <a:latin typeface="Calibri"/>
                        </a:rPr>
                        <a:t>EuroSAT</a:t>
                      </a:r>
                    </a:p>
                  </a:txBody>
                  <a:tcPr marL="64008" marR="64008" anchor="ctr">
                    <a:solidFill>
                      <a:srgbClr val="E7E2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5A6170"/>
                          </a:solidFill>
                          <a:latin typeface="Calibri"/>
                        </a:rPr>
                        <a:t>Aircraft</a:t>
                      </a:r>
                    </a:p>
                  </a:txBody>
                  <a:tcPr marL="64008" marR="64008" anchor="ctr">
                    <a:solidFill>
                      <a:srgbClr val="E7E2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5A6170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64008" marR="64008" anchor="ctr">
                    <a:solidFill>
                      <a:srgbClr val="E7E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CLIP zero-shot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44.39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67.32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88.20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42.06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23.85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53.16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TDA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47.04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69.91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88.77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53.17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24.27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56.63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Ours, all 3</a:t>
                      </a:r>
                    </a:p>
                  </a:txBody>
                  <a:tcPr marL="64008" marR="64008" anchor="ctr">
                    <a:solidFill>
                      <a:srgbClr val="ECE6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45.63</a:t>
                      </a:r>
                    </a:p>
                  </a:txBody>
                  <a:tcPr marL="64008" marR="64008" anchor="ctr">
                    <a:solidFill>
                      <a:srgbClr val="ECE6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68.86</a:t>
                      </a:r>
                    </a:p>
                  </a:txBody>
                  <a:tcPr marL="64008" marR="64008" anchor="ctr">
                    <a:solidFill>
                      <a:srgbClr val="ECE6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88.74</a:t>
                      </a:r>
                    </a:p>
                  </a:txBody>
                  <a:tcPr marL="64008" marR="64008" anchor="ctr">
                    <a:solidFill>
                      <a:srgbClr val="ECE6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48.88</a:t>
                      </a:r>
                    </a:p>
                  </a:txBody>
                  <a:tcPr marL="64008" marR="64008" anchor="ctr">
                    <a:solidFill>
                      <a:srgbClr val="ECE6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23.97</a:t>
                      </a:r>
                    </a:p>
                  </a:txBody>
                  <a:tcPr marL="64008" marR="64008" anchor="ctr">
                    <a:solidFill>
                      <a:srgbClr val="ECE6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1A1F2B"/>
                          </a:solidFill>
                          <a:latin typeface="Calibri"/>
                        </a:rPr>
                        <a:t>55.22</a:t>
                      </a:r>
                    </a:p>
                  </a:txBody>
                  <a:tcPr marL="64008" marR="64008" anchor="ctr">
                    <a:solidFill>
                      <a:srgbClr val="ECE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447288"/>
            <a:ext cx="6583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5A6170"/>
                </a:solidFill>
                <a:latin typeface="Calibri"/>
              </a:rPr>
              <a:t>ECE, 20 bins (%)   -   lower is better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3703320"/>
          <a:ext cx="6629397" cy="11338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1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7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5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18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4008" marR="64008" anchor="ctr">
                    <a:solidFill>
                      <a:srgbClr val="E7E2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5A6170"/>
                          </a:solidFill>
                          <a:latin typeface="Calibri"/>
                        </a:rPr>
                        <a:t>DTD</a:t>
                      </a:r>
                    </a:p>
                  </a:txBody>
                  <a:tcPr marL="64008" marR="64008" anchor="ctr">
                    <a:solidFill>
                      <a:srgbClr val="E7E2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5A6170"/>
                          </a:solidFill>
                          <a:latin typeface="Calibri"/>
                        </a:rPr>
                        <a:t>Flowers102</a:t>
                      </a:r>
                    </a:p>
                  </a:txBody>
                  <a:tcPr marL="64008" marR="64008" anchor="ctr">
                    <a:solidFill>
                      <a:srgbClr val="E7E2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5A6170"/>
                          </a:solidFill>
                          <a:latin typeface="Calibri"/>
                        </a:rPr>
                        <a:t>Pets</a:t>
                      </a:r>
                    </a:p>
                  </a:txBody>
                  <a:tcPr marL="64008" marR="64008" anchor="ctr">
                    <a:solidFill>
                      <a:srgbClr val="E7E2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5A6170"/>
                          </a:solidFill>
                          <a:latin typeface="Calibri"/>
                        </a:rPr>
                        <a:t>EuroSAT</a:t>
                      </a:r>
                    </a:p>
                  </a:txBody>
                  <a:tcPr marL="64008" marR="64008" anchor="ctr">
                    <a:solidFill>
                      <a:srgbClr val="E7E2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5A6170"/>
                          </a:solidFill>
                          <a:latin typeface="Calibri"/>
                        </a:rPr>
                        <a:t>Aircraft</a:t>
                      </a:r>
                    </a:p>
                  </a:txBody>
                  <a:tcPr marL="64008" marR="64008" anchor="ctr">
                    <a:solidFill>
                      <a:srgbClr val="E7E2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5A6170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64008" marR="64008" anchor="ctr">
                    <a:solidFill>
                      <a:srgbClr val="E7E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CLIP zero-shot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8.27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2.63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4.37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7.16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5.44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5.57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TDA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17.41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6.39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2.52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14.38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15.51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1A1F2B"/>
                          </a:solidFill>
                          <a:latin typeface="Calibri"/>
                        </a:rPr>
                        <a:t>11.24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B34A3C"/>
                          </a:solidFill>
                          <a:latin typeface="Calibri"/>
                        </a:rPr>
                        <a:t>Ours, all 3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B34A3C"/>
                          </a:solidFill>
                          <a:latin typeface="Calibri"/>
                        </a:rPr>
                        <a:t>17.72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B34A3C"/>
                          </a:solidFill>
                          <a:latin typeface="Calibri"/>
                        </a:rPr>
                        <a:t>32.73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B34A3C"/>
                          </a:solidFill>
                          <a:latin typeface="Calibri"/>
                        </a:rPr>
                        <a:t>43.98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B34A3C"/>
                          </a:solidFill>
                          <a:latin typeface="Calibri"/>
                        </a:rPr>
                        <a:t>17.53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B34A3C"/>
                          </a:solidFill>
                          <a:latin typeface="Calibri"/>
                        </a:rPr>
                        <a:t>8.65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B34A3C"/>
                          </a:solidFill>
                          <a:latin typeface="Calibri"/>
                        </a:rPr>
                        <a:t>24.12</a:t>
                      </a:r>
                    </a:p>
                  </a:txBody>
                  <a:tcPr marL="64008" marR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8" descr="accuracy_vs_e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009921"/>
            <a:ext cx="4224528" cy="324963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6928" y="5532120"/>
            <a:ext cx="50800" cy="603504"/>
          </a:xfrm>
          <a:prstGeom prst="rect">
            <a:avLst/>
          </a:prstGeom>
          <a:solidFill>
            <a:srgbClr val="B3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532120"/>
            <a:ext cx="1089324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50" b="1" i="0">
                <a:solidFill>
                  <a:srgbClr val="1A1F2B"/>
                </a:solidFill>
                <a:latin typeface="Calibri"/>
              </a:rPr>
              <a:t>Success criterion (accuracy ≥ TDA AND ECE &lt; TDA): met on 0 of 5 datasets. We report that as the negative result it 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A6170"/>
                </a:solidFill>
                <a:latin typeface="Calibri"/>
              </a:rPr>
              <a:t>Calibration-Aware Test-Time Adaptation for CLIP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170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7D5BA6"/>
                </a:solidFill>
                <a:latin typeface="Calibri"/>
              </a:rPr>
              <a:t>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1A1F2B"/>
                </a:solidFill>
                <a:latin typeface="Calibri"/>
              </a:rPr>
              <a:t>The ablation: one of the three actually works</a:t>
            </a:r>
          </a:p>
        </p:txBody>
      </p:sp>
      <p:pic>
        <p:nvPicPr>
          <p:cNvPr id="5" name="Picture 4" descr="ablation_e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281" y="1719072"/>
            <a:ext cx="9679132" cy="3703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577840"/>
            <a:ext cx="50800" cy="603504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89324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50" b="1" i="0">
                <a:solidFill>
                  <a:srgbClr val="1A1F2B"/>
                </a:solidFill>
                <a:latin typeface="Calibri"/>
              </a:rPr>
              <a:t>LOO temperature alone: mean ECE 11.28% → 8.54% at IDENTICAL accuracy, better on 4 of 5 datasets.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A6170"/>
                </a:solidFill>
                <a:latin typeface="Calibri"/>
              </a:rPr>
              <a:t>Calibration-Aware Test-Time Adaptation for CLIP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170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7D5BA6"/>
                </a:solidFill>
                <a:latin typeface="Calibri"/>
              </a:rPr>
              <a:t>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1A1F2B"/>
                </a:solidFill>
                <a:latin typeface="Calibri"/>
              </a:rPr>
              <a:t>Why the other two failed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8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2029968"/>
            <a:ext cx="304495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A1F2B"/>
                </a:solidFill>
                <a:latin typeface="Calibri"/>
              </a:rPr>
              <a:t>Margin admission</a:t>
            </a:r>
          </a:p>
          <a:p>
            <a:pPr>
              <a:spcBef>
                <a:spcPts val="700"/>
              </a:spcBef>
            </a:pPr>
            <a:r>
              <a:rPr sz="1550" b="1" i="0">
                <a:solidFill>
                  <a:srgbClr val="B34A3C"/>
                </a:solidFill>
                <a:latin typeface="Calibri"/>
              </a:rPr>
              <a:t>accuracy 56.60 → 53.67</a:t>
            </a:r>
          </a:p>
          <a:p>
            <a:pPr>
              <a:spcBef>
                <a:spcPts val="900"/>
              </a:spcBef>
            </a:pPr>
            <a:r>
              <a:rPr sz="1200" b="0" i="0">
                <a:solidFill>
                  <a:srgbClr val="5A6170"/>
                </a:solidFill>
                <a:latin typeface="Calibri"/>
              </a:rPr>
              <a:t>The global threshold starves the cache on high-class-count datasets. On Aircraft only 15.9% of samples are admitted, so the cache holds too little signal to help - and the signal it discards was being used correctly.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8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81144" y="2029968"/>
            <a:ext cx="304495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A1F2B"/>
                </a:solidFill>
                <a:latin typeface="Calibri"/>
              </a:rPr>
              <a:t>Probabilistic fusion</a:t>
            </a:r>
          </a:p>
          <a:p>
            <a:pPr>
              <a:spcBef>
                <a:spcPts val="700"/>
              </a:spcBef>
            </a:pPr>
            <a:r>
              <a:rPr sz="1550" b="1" i="0">
                <a:solidFill>
                  <a:srgbClr val="B34A3C"/>
                </a:solidFill>
                <a:latin typeface="Calibri"/>
              </a:rPr>
              <a:t>mean ECE → 24.54</a:t>
            </a:r>
          </a:p>
          <a:p>
            <a:pPr>
              <a:spcBef>
                <a:spcPts val="900"/>
              </a:spcBef>
            </a:pPr>
            <a:r>
              <a:rPr sz="1200" b="0" i="0">
                <a:solidFill>
                  <a:srgbClr val="5A6170"/>
                </a:solidFill>
                <a:latin typeface="Calibri"/>
              </a:rPr>
              <a:t>Backfires the opposite way from the design intent. Cache logits are small and flat, so a 50/50 mixture caps top-1 confidence well below 1 on EVERY sample - correct or not. The result is severe UNDER-confidence.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82880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8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57616" y="2029968"/>
            <a:ext cx="304495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A1F2B"/>
                </a:solidFill>
                <a:latin typeface="Calibri"/>
              </a:rPr>
              <a:t>Temperature, on top of both</a:t>
            </a:r>
          </a:p>
          <a:p>
            <a:pPr>
              <a:spcBef>
                <a:spcPts val="700"/>
              </a:spcBef>
            </a:pPr>
            <a:r>
              <a:rPr sz="1550" b="1" i="0">
                <a:solidFill>
                  <a:srgbClr val="5A6170"/>
                </a:solidFill>
                <a:latin typeface="Calibri"/>
              </a:rPr>
              <a:t>98-100% pinned at T = 1</a:t>
            </a:r>
          </a:p>
          <a:p>
            <a:pPr>
              <a:spcBef>
                <a:spcPts val="900"/>
              </a:spcBef>
            </a:pPr>
            <a:r>
              <a:rPr sz="1200" b="0" i="0">
                <a:solidFill>
                  <a:srgbClr val="5A6170"/>
                </a:solidFill>
                <a:latin typeface="Calibri"/>
              </a:rPr>
              <a:t>With margin and fusion both active, the LOO estimate is inflated by the selectively-pure cache, so the search wants to sharpen and is held at the no-op floor. Contribution 3 is effectively INERT inside the bundle.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343400"/>
            <a:ext cx="11057839" cy="1143000"/>
          </a:xfrm>
          <a:prstGeom prst="roundRect">
            <a:avLst>
              <a:gd name="adj" fmla="val 4000"/>
            </a:avLst>
          </a:prstGeom>
          <a:solidFill>
            <a:srgbClr val="F7EAE1"/>
          </a:solidFill>
          <a:ln w="15875">
            <a:solidFill>
              <a:srgbClr val="D8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4517136"/>
            <a:ext cx="10472623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1A1F2B"/>
                </a:solidFill>
                <a:latin typeface="Calibri"/>
              </a:rPr>
              <a:t>And the exception we did not average away:  </a:t>
            </a:r>
            <a:r>
              <a:rPr sz="1400" b="0" i="0">
                <a:solidFill>
                  <a:srgbClr val="1A1F2B"/>
                </a:solidFill>
                <a:latin typeface="Calibri"/>
              </a:rPr>
              <a:t>on Pets, where TDA is already very well calibrated (2.53% ECE), adding temperature on top of margin makes it 14.79%.</a:t>
            </a:r>
          </a:p>
          <a:p>
            <a:pPr>
              <a:spcBef>
                <a:spcPts val="400"/>
              </a:spcBef>
            </a:pPr>
            <a:r>
              <a:rPr sz="1250" b="0" i="1">
                <a:solidFill>
                  <a:srgbClr val="5A6170"/>
                </a:solidFill>
                <a:latin typeface="Calibri"/>
              </a:rPr>
              <a:t>Our method always smooths toward its label-free estimate, with no way to detect that no smoothing was needed. Developing on one dataset would have hidden this entirely.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A6170"/>
                </a:solidFill>
                <a:latin typeface="Calibri"/>
              </a:rPr>
              <a:t>Calibration-Aware Test-Time Adaptation for CLIP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170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7D5BA6"/>
                </a:solidFill>
                <a:latin typeface="Calibri"/>
              </a:rPr>
              <a:t>5 ·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1A1F2B"/>
                </a:solidFill>
                <a:latin typeface="Calibri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66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•   One global margin threshold is not portable. Logit margins have no common scale across a 10-class and a 100-class dataset, and admission rates running from 15.9% (Aircraft) to 81.9% (Pets) show it. Tuning per dataset would have been test-set tuning, so we did not.</a:t>
            </a:r>
          </a:p>
          <a:p>
            <a:pPr>
              <a:spcAft>
                <a:spcPts val="500"/>
              </a:spcAft>
            </a:pPr>
            <a:endParaRPr sz="1600" b="0" i="0">
              <a:solidFill>
                <a:srgbClr val="1A1F2B"/>
              </a:solidFill>
              <a:latin typeface="Calibri"/>
            </a:endParaRPr>
          </a:p>
          <a:p>
            <a:pPr marL="274320" indent="-274320">
              <a:spcAft>
                <a:spcPts val="5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•   Temperature scaling has no stopping rule. It always smooths toward the label-free estimate, even when the model was already well calibrated - which is exactly how it damages Pets.</a:t>
            </a:r>
          </a:p>
          <a:p>
            <a:pPr>
              <a:spcAft>
                <a:spcPts val="500"/>
              </a:spcAft>
            </a:pPr>
            <a:endParaRPr sz="1600" b="0" i="0">
              <a:solidFill>
                <a:srgbClr val="1A1F2B"/>
              </a:solidFill>
              <a:latin typeface="Calibri"/>
            </a:endParaRPr>
          </a:p>
          <a:p>
            <a:pPr marL="274320" indent="-274320">
              <a:spcAft>
                <a:spcPts val="5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•   Five datasets, one backbone, one seed. Enough to show the bundle fails and that temperature alone helps on 4 of 5; not enough to claim either result holds universally.</a:t>
            </a:r>
          </a:p>
          <a:p>
            <a:pPr>
              <a:spcAft>
                <a:spcPts val="500"/>
              </a:spcAft>
            </a:pPr>
            <a:endParaRPr sz="1600" b="0" i="0">
              <a:solidFill>
                <a:srgbClr val="1A1F2B"/>
              </a:solidFill>
              <a:latin typeface="Calibri"/>
            </a:endParaRPr>
          </a:p>
          <a:p>
            <a:pPr marL="274320" indent="-274320">
              <a:spcAft>
                <a:spcPts val="5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•   The LOO estimate is only as good as the cache. It inherits whatever bias the admission rule introduces - which is precisely the coupling that makes contribution 1 and contribution 3 interfere.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A6170"/>
                </a:solidFill>
                <a:latin typeface="Calibri"/>
              </a:rPr>
              <a:t>Calibration-Aware Test-Time Adaptation for CLIP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170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7D5BA6"/>
                </a:solidFill>
                <a:latin typeface="Calibri"/>
              </a:rPr>
              <a:t>5 ·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1A1F2B"/>
                </a:solidFill>
                <a:latin typeface="Calibri"/>
              </a:rP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11057839" cy="1261872"/>
          </a:xfrm>
          <a:prstGeom prst="roundRect">
            <a:avLst>
              <a:gd name="adj" fmla="val 4000"/>
            </a:avLst>
          </a:prstGeom>
          <a:solidFill>
            <a:srgbClr val="ECE6F3"/>
          </a:solidFill>
          <a:ln w="15875">
            <a:solidFill>
              <a:srgbClr val="D8D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993392"/>
            <a:ext cx="1032631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7D5BA6"/>
                </a:solidFill>
                <a:latin typeface="Calibri"/>
              </a:rPr>
              <a:t>What we stand behind</a:t>
            </a:r>
          </a:p>
          <a:p>
            <a:pPr>
              <a:spcBef>
                <a:spcPts val="800"/>
              </a:spcBef>
            </a:pPr>
            <a:r>
              <a:rPr sz="1700" b="1" i="0">
                <a:solidFill>
                  <a:srgbClr val="1A1F2B"/>
                </a:solidFill>
                <a:latin typeface="Calibri"/>
              </a:rPr>
              <a:t>Label-free LOO temperature scaling, applied ALONE to TDA, cuts mean ECE 11.28% → 8.54% at unchanged accuracy (56.60%), on 4 of 5 datasets.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73552"/>
            <a:ext cx="11057839" cy="2962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400"/>
              </a:spcAft>
            </a:pPr>
            <a:r>
              <a:rPr sz="1550" b="0" i="0">
                <a:solidFill>
                  <a:srgbClr val="1A1F2B"/>
                </a:solidFill>
                <a:latin typeface="Calibri"/>
              </a:rPr>
              <a:t>•   The bundle we set out to build does not work. Margin admission and probabilistic fusion are both harmful on average, and neither is reliably helpful alone.</a:t>
            </a:r>
          </a:p>
          <a:p>
            <a:pPr>
              <a:spcAft>
                <a:spcPts val="400"/>
              </a:spcAft>
            </a:pPr>
            <a:endParaRPr sz="1550" b="0" i="0">
              <a:solidFill>
                <a:srgbClr val="1A1F2B"/>
              </a:solidFill>
              <a:latin typeface="Calibri"/>
            </a:endParaRPr>
          </a:p>
          <a:p>
            <a:pPr marL="274320" indent="-274320">
              <a:spcAft>
                <a:spcPts val="400"/>
              </a:spcAft>
            </a:pPr>
            <a:r>
              <a:rPr sz="1550" b="0" i="0">
                <a:solidFill>
                  <a:srgbClr val="1A1F2B"/>
                </a:solidFill>
                <a:latin typeface="Calibri"/>
              </a:rPr>
              <a:t>•   We know why each one failed, and the ablation is what told us - not intuition: margin starves the cache, fusion manufactures under-confidence, and together they render the one contribution that works inert.</a:t>
            </a:r>
          </a:p>
          <a:p>
            <a:pPr>
              <a:spcAft>
                <a:spcPts val="400"/>
              </a:spcAft>
            </a:pPr>
            <a:endParaRPr sz="1550" b="0" i="0">
              <a:solidFill>
                <a:srgbClr val="1A1F2B"/>
              </a:solidFill>
              <a:latin typeface="Calibri"/>
            </a:endParaRPr>
          </a:p>
          <a:p>
            <a:pPr marL="274320" indent="-274320">
              <a:spcAft>
                <a:spcPts val="400"/>
              </a:spcAft>
            </a:pPr>
            <a:r>
              <a:rPr sz="1550" b="0" i="0">
                <a:solidFill>
                  <a:srgbClr val="1A1F2B"/>
                </a:solidFill>
                <a:latin typeface="Calibri"/>
              </a:rPr>
              <a:t>•   The finding is narrower than the one we set out to get - and we report it that way rather than framing the bundle as a success it is not.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623560"/>
            <a:ext cx="50800" cy="603504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1089324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50" b="1" i="0">
                <a:solidFill>
                  <a:srgbClr val="1A1F2B"/>
                </a:solidFill>
                <a:latin typeface="Calibri"/>
              </a:rPr>
              <a:t>Not “three changes fix TDA calibration”, but “one of three does, run alone — and we diagnosed why the other two do not.”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5A6170"/>
                </a:solidFill>
                <a:latin typeface="Calibri"/>
              </a:rPr>
              <a:t>Calibration-Aware Test-Time Adaptation for CLIP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27487" y="6400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170"/>
                </a:solidFill>
                <a:latin typeface="Calibri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6380</Words>
  <Application>Microsoft Office PowerPoint</Application>
  <PresentationFormat>Widescreen</PresentationFormat>
  <Paragraphs>633</Paragraphs>
  <Slides>19</Slides>
  <Notes>19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Gal Machlin</cp:lastModifiedBy>
  <cp:revision>2</cp:revision>
  <dcterms:created xsi:type="dcterms:W3CDTF">2013-01-27T09:14:16Z</dcterms:created>
  <dcterms:modified xsi:type="dcterms:W3CDTF">2026-10-23T13:35:19Z</dcterms:modified>
  <cp:category/>
</cp:coreProperties>
</file>